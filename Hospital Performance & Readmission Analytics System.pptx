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1"/>
  </p:notesMasterIdLst>
  <p:handoutMasterIdLst>
    <p:handoutMasterId r:id="rId22"/>
  </p:handoutMasterIdLst>
  <p:sldIdLst>
    <p:sldId id="257" r:id="rId5"/>
    <p:sldId id="264" r:id="rId6"/>
    <p:sldId id="282" r:id="rId7"/>
    <p:sldId id="258" r:id="rId8"/>
    <p:sldId id="261" r:id="rId9"/>
    <p:sldId id="286" r:id="rId10"/>
    <p:sldId id="287" r:id="rId11"/>
    <p:sldId id="289" r:id="rId12"/>
    <p:sldId id="290" r:id="rId13"/>
    <p:sldId id="291" r:id="rId14"/>
    <p:sldId id="288" r:id="rId15"/>
    <p:sldId id="292" r:id="rId16"/>
    <p:sldId id="293" r:id="rId17"/>
    <p:sldId id="281" r:id="rId18"/>
    <p:sldId id="294" r:id="rId19"/>
    <p:sldId id="277" r:id="rId20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1008">
          <p15:clr>
            <a:srgbClr val="A4A3A4"/>
          </p15:clr>
        </p15:guide>
        <p15:guide id="3" orient="horz" pos="3792">
          <p15:clr>
            <a:srgbClr val="A4A3A4"/>
          </p15:clr>
        </p15:guide>
        <p15:guide id="4" orient="horz" pos="336">
          <p15:clr>
            <a:srgbClr val="A4A3A4"/>
          </p15:clr>
        </p15:guide>
        <p15:guide id="5" orient="horz" pos="1920">
          <p15:clr>
            <a:srgbClr val="A4A3A4"/>
          </p15:clr>
        </p15:guide>
        <p15:guide id="6" orient="horz" pos="3984">
          <p15:clr>
            <a:srgbClr val="A4A3A4"/>
          </p15:clr>
        </p15:guide>
        <p15:guide id="7" orient="horz" pos="1152">
          <p15:clr>
            <a:srgbClr val="A4A3A4"/>
          </p15:clr>
        </p15:guide>
        <p15:guide id="8" pos="3839">
          <p15:clr>
            <a:srgbClr val="A4A3A4"/>
          </p15:clr>
        </p15:guide>
        <p15:guide id="9" pos="671">
          <p15:clr>
            <a:srgbClr val="A4A3A4"/>
          </p15:clr>
        </p15:guide>
        <p15:guide id="10" pos="7007">
          <p15:clr>
            <a:srgbClr val="A4A3A4"/>
          </p15:clr>
        </p15:guide>
        <p15:guide id="11" pos="6143">
          <p15:clr>
            <a:srgbClr val="A4A3A4"/>
          </p15:clr>
        </p15:guide>
        <p15:guide id="12" pos="3263">
          <p15:clr>
            <a:srgbClr val="A4A3A4"/>
          </p15:clr>
        </p15:guide>
        <p15:guide id="13" pos="7391">
          <p15:clr>
            <a:srgbClr val="A4A3A4"/>
          </p15:clr>
        </p15:guide>
        <p15:guide id="14" pos="369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879" autoAdjust="0"/>
  </p:normalViewPr>
  <p:slideViewPr>
    <p:cSldViewPr showGuides="1">
      <p:cViewPr varScale="1">
        <p:scale>
          <a:sx n="59" d="100"/>
          <a:sy n="59" d="100"/>
        </p:scale>
        <p:origin x="964" y="52"/>
      </p:cViewPr>
      <p:guideLst>
        <p:guide orient="horz" pos="2160"/>
        <p:guide orient="horz" pos="1008"/>
        <p:guide orient="horz" pos="3792"/>
        <p:guide orient="horz" pos="336"/>
        <p:guide orient="horz" pos="1920"/>
        <p:guide orient="horz" pos="3984"/>
        <p:guide orient="horz" pos="1152"/>
        <p:guide pos="3839"/>
        <p:guide pos="671"/>
        <p:guide pos="7007"/>
        <p:guide pos="6143"/>
        <p:guide pos="3263"/>
        <p:guide pos="7391"/>
        <p:guide pos="369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howGuides="1">
      <p:cViewPr varScale="1">
        <p:scale>
          <a:sx n="73" d="100"/>
          <a:sy n="73" d="100"/>
        </p:scale>
        <p:origin x="2126" y="29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CE221E-83ED-4F6C-BA5F-3F9E6FDB6953}" type="datetimeFigureOut">
              <a:rPr lang="en-US"/>
              <a:t>3/10/2026</a:t>
            </a:fld>
            <a:endParaRPr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4CBEF8-5CDE-472B-839B-B8BB0C881006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632892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853E5F-CE67-483C-A264-F17AC70E9CA2}" type="datetimeFigureOut">
              <a:rPr lang="en-US"/>
              <a:t>3/10/2026</a:t>
            </a:fld>
            <a:endParaRPr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B98AFB-CB0D-4DFE-87B9-B4B0D0DE73CD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128058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98AFB-CB0D-4DFE-87B9-B4B0D0DE73CD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40147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98AFB-CB0D-4DFE-87B9-B4B0D0DE73CD}" type="slidenum">
              <a:rPr lang="en-IN" smtClean="0"/>
              <a:t>11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721380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A5474-AD66-8332-8F93-09B8C1B95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7A4B06-E4CD-1239-36C3-BD83B8F34A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D80CC1-84AB-133E-7BDF-19EABF3302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886B60-4ABF-012C-F4E9-DBEFC593FD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98AFB-CB0D-4DFE-87B9-B4B0D0DE73CD}" type="slidenum">
              <a:rPr lang="en-IN" smtClean="0"/>
              <a:t>12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58002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A522EB-CF7A-6D62-22F3-3F0F86F5F0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6DB0FB-319D-1197-3AB6-0246E399DD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82A081-83F3-C196-1E27-BAF6A1A02B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BB20DF-4962-8FB7-2E2B-A419BB83A6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98AFB-CB0D-4DFE-87B9-B4B0D0DE73CD}" type="slidenum">
              <a:rPr lang="en-IN" smtClean="0"/>
              <a:t>13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503612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">
    <p:bg>
      <p:bgPr>
        <a:gradFill>
          <a:gsLst>
            <a:gs pos="0">
              <a:schemeClr val="accent2">
                <a:lumMod val="110000"/>
                <a:satMod val="105000"/>
                <a:tint val="67000"/>
                <a:alpha val="0"/>
              </a:schemeClr>
            </a:gs>
            <a:gs pos="100000">
              <a:schemeClr val="bg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white circles on a black background&#10;&#10;Description automatically generated">
            <a:extLst>
              <a:ext uri="{FF2B5EF4-FFF2-40B4-BE49-F238E27FC236}">
                <a16:creationId xmlns:a16="http://schemas.microsoft.com/office/drawing/2014/main" id="{05185B01-840C-72E0-FF30-8EE18CFC55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504" r="4105" b="14441"/>
          <a:stretch/>
        </p:blipFill>
        <p:spPr>
          <a:xfrm>
            <a:off x="3275012" y="0"/>
            <a:ext cx="8913812" cy="686745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1295400"/>
            <a:ext cx="10287000" cy="3886200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defRPr sz="660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95FDDB8-B25B-0452-0EE6-99D1F02803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84212" y="5600700"/>
            <a:ext cx="10287000" cy="533400"/>
          </a:xfrm>
        </p:spPr>
        <p:txBody>
          <a:bodyPr anchor="t">
            <a:normAutofit/>
          </a:bodyPr>
          <a:lstStyle>
            <a:lvl1pPr marL="45720" indent="0" algn="l">
              <a:buNone/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ross 2">
            <a:extLst>
              <a:ext uri="{FF2B5EF4-FFF2-40B4-BE49-F238E27FC236}">
                <a16:creationId xmlns:a16="http://schemas.microsoft.com/office/drawing/2014/main" id="{29F0C076-A364-A8D3-F322-AC2A18341617}"/>
              </a:ext>
            </a:extLst>
          </p:cNvPr>
          <p:cNvSpPr/>
          <p:nvPr userDrawn="1"/>
        </p:nvSpPr>
        <p:spPr>
          <a:xfrm>
            <a:off x="10975566" y="4987103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Cross 3">
            <a:extLst>
              <a:ext uri="{FF2B5EF4-FFF2-40B4-BE49-F238E27FC236}">
                <a16:creationId xmlns:a16="http://schemas.microsoft.com/office/drawing/2014/main" id="{921F5FF9-DFA3-CF00-B31A-21C261392B15}"/>
              </a:ext>
            </a:extLst>
          </p:cNvPr>
          <p:cNvSpPr/>
          <p:nvPr userDrawn="1"/>
        </p:nvSpPr>
        <p:spPr>
          <a:xfrm>
            <a:off x="10118724" y="35814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0241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67777CD-9A1F-DEEA-2595-9E892C952556}"/>
              </a:ext>
            </a:extLst>
          </p:cNvPr>
          <p:cNvSpPr/>
          <p:nvPr userDrawn="1"/>
        </p:nvSpPr>
        <p:spPr>
          <a:xfrm>
            <a:off x="-1" y="0"/>
            <a:ext cx="12188825" cy="6858000"/>
          </a:xfrm>
          <a:prstGeom prst="rect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F4D3028-A414-148B-F10C-466ED585BCD9}"/>
              </a:ext>
            </a:extLst>
          </p:cNvPr>
          <p:cNvSpPr/>
          <p:nvPr userDrawn="1"/>
        </p:nvSpPr>
        <p:spPr>
          <a:xfrm>
            <a:off x="-1" y="1586"/>
            <a:ext cx="3428208" cy="6856414"/>
          </a:xfrm>
          <a:custGeom>
            <a:avLst/>
            <a:gdLst>
              <a:gd name="connsiteX0" fmla="*/ 1 w 3428208"/>
              <a:gd name="connsiteY0" fmla="*/ 0 h 6856414"/>
              <a:gd name="connsiteX1" fmla="*/ 3428208 w 3428208"/>
              <a:gd name="connsiteY1" fmla="*/ 3428207 h 6856414"/>
              <a:gd name="connsiteX2" fmla="*/ 1 w 3428208"/>
              <a:gd name="connsiteY2" fmla="*/ 6856414 h 6856414"/>
              <a:gd name="connsiteX3" fmla="*/ 0 w 3428208"/>
              <a:gd name="connsiteY3" fmla="*/ 6856414 h 6856414"/>
              <a:gd name="connsiteX4" fmla="*/ 0 w 3428208"/>
              <a:gd name="connsiteY4" fmla="*/ 0 h 6856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28208" h="6856414">
                <a:moveTo>
                  <a:pt x="1" y="0"/>
                </a:moveTo>
                <a:cubicBezTo>
                  <a:pt x="1893347" y="0"/>
                  <a:pt x="3428208" y="1534861"/>
                  <a:pt x="3428208" y="3428207"/>
                </a:cubicBezTo>
                <a:cubicBezTo>
                  <a:pt x="3428208" y="5321553"/>
                  <a:pt x="1893347" y="6856414"/>
                  <a:pt x="1" y="6856414"/>
                </a:cubicBezTo>
                <a:lnTo>
                  <a:pt x="0" y="6856414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EB111F7-2027-1E41-1C02-BA5AA37EA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012" y="723900"/>
            <a:ext cx="4114800" cy="5295900"/>
          </a:xfrm>
        </p:spPr>
        <p:txBody>
          <a:bodyPr anchor="ctr">
            <a:normAutofit/>
          </a:bodyPr>
          <a:lstStyle>
            <a:lvl1pPr algn="r">
              <a:lnSpc>
                <a:spcPct val="100000"/>
              </a:lnSpc>
              <a:defRPr sz="4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32612" y="1981200"/>
            <a:ext cx="4114800" cy="2854781"/>
          </a:xfrm>
        </p:spPr>
        <p:txBody>
          <a:bodyPr anchor="ctr"/>
          <a:lstStyle>
            <a:lvl1pPr marL="4572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36576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 marL="59436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 marL="77724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 marL="96012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14" name="Cross 13">
            <a:extLst>
              <a:ext uri="{FF2B5EF4-FFF2-40B4-BE49-F238E27FC236}">
                <a16:creationId xmlns:a16="http://schemas.microsoft.com/office/drawing/2014/main" id="{02A1E7CF-4DB4-D31C-D6AA-D368DA17CD5F}"/>
              </a:ext>
            </a:extLst>
          </p:cNvPr>
          <p:cNvSpPr/>
          <p:nvPr userDrawn="1"/>
        </p:nvSpPr>
        <p:spPr>
          <a:xfrm>
            <a:off x="4837509" y="9144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Cross 14">
            <a:extLst>
              <a:ext uri="{FF2B5EF4-FFF2-40B4-BE49-F238E27FC236}">
                <a16:creationId xmlns:a16="http://schemas.microsoft.com/office/drawing/2014/main" id="{E47E8503-C2AB-07F1-FD1F-A529E414E168}"/>
              </a:ext>
            </a:extLst>
          </p:cNvPr>
          <p:cNvSpPr/>
          <p:nvPr userDrawn="1"/>
        </p:nvSpPr>
        <p:spPr>
          <a:xfrm>
            <a:off x="3085307" y="569595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Left Brace 1">
            <a:extLst>
              <a:ext uri="{FF2B5EF4-FFF2-40B4-BE49-F238E27FC236}">
                <a16:creationId xmlns:a16="http://schemas.microsoft.com/office/drawing/2014/main" id="{8020F553-E264-0059-F1EB-47039048DC67}"/>
              </a:ext>
            </a:extLst>
          </p:cNvPr>
          <p:cNvSpPr/>
          <p:nvPr userDrawn="1"/>
        </p:nvSpPr>
        <p:spPr>
          <a:xfrm>
            <a:off x="5561012" y="2022021"/>
            <a:ext cx="838200" cy="2813960"/>
          </a:xfrm>
          <a:prstGeom prst="leftBrace">
            <a:avLst>
              <a:gd name="adj1" fmla="val 34932"/>
              <a:gd name="adj2" fmla="val 50000"/>
            </a:avLst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89843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ing with Phone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45C0889D-74A2-974C-BB02-FA1F7BE369E2}"/>
              </a:ext>
            </a:extLst>
          </p:cNvPr>
          <p:cNvSpPr/>
          <p:nvPr userDrawn="1"/>
        </p:nvSpPr>
        <p:spPr>
          <a:xfrm>
            <a:off x="6704012" y="1148418"/>
            <a:ext cx="4561165" cy="4561165"/>
          </a:xfrm>
          <a:prstGeom prst="ellipse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2DAE856D-3749-4D3B-9F33-A46528589FE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32079" y="598170"/>
            <a:ext cx="3096221" cy="5661660"/>
          </a:xfrm>
          <a:prstGeom prst="rect">
            <a:avLst/>
          </a:prstGeom>
        </p:spPr>
      </p:pic>
      <p:sp>
        <p:nvSpPr>
          <p:cNvPr id="9" name="Cross 8">
            <a:extLst>
              <a:ext uri="{FF2B5EF4-FFF2-40B4-BE49-F238E27FC236}">
                <a16:creationId xmlns:a16="http://schemas.microsoft.com/office/drawing/2014/main" id="{7A96460A-640C-6025-AAB5-344AB2A405D1}"/>
              </a:ext>
            </a:extLst>
          </p:cNvPr>
          <p:cNvSpPr/>
          <p:nvPr userDrawn="1"/>
        </p:nvSpPr>
        <p:spPr>
          <a:xfrm>
            <a:off x="10818812" y="5353077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1" name="Cross 10">
            <a:extLst>
              <a:ext uri="{FF2B5EF4-FFF2-40B4-BE49-F238E27FC236}">
                <a16:creationId xmlns:a16="http://schemas.microsoft.com/office/drawing/2014/main" id="{471314FF-EA0B-8DDE-B558-885A876FB0D5}"/>
              </a:ext>
            </a:extLst>
          </p:cNvPr>
          <p:cNvSpPr/>
          <p:nvPr userDrawn="1"/>
        </p:nvSpPr>
        <p:spPr>
          <a:xfrm>
            <a:off x="6335910" y="805517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94761B-B29B-1C47-FAE9-6E0FA1543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012" y="685800"/>
            <a:ext cx="6372818" cy="4038600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defRPr sz="480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EEFF6782-6ABD-DEB0-6FD1-1263A5469A2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8012" y="4876800"/>
            <a:ext cx="6372817" cy="1104898"/>
          </a:xfrm>
        </p:spPr>
        <p:txBody>
          <a:bodyPr anchor="t">
            <a:normAutofit/>
          </a:bodyPr>
          <a:lstStyle>
            <a:lvl1pPr marL="45720" indent="0" algn="l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5BA3F629-2405-DC90-C212-6F3D52B95D9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765046" y="883471"/>
            <a:ext cx="2439096" cy="5091059"/>
          </a:xfrm>
          <a:custGeom>
            <a:avLst/>
            <a:gdLst>
              <a:gd name="connsiteX0" fmla="*/ 340815 w 2439096"/>
              <a:gd name="connsiteY0" fmla="*/ 0 h 5091059"/>
              <a:gd name="connsiteX1" fmla="*/ 2098281 w 2439096"/>
              <a:gd name="connsiteY1" fmla="*/ 0 h 5091059"/>
              <a:gd name="connsiteX2" fmla="*/ 2439096 w 2439096"/>
              <a:gd name="connsiteY2" fmla="*/ 340815 h 5091059"/>
              <a:gd name="connsiteX3" fmla="*/ 2439096 w 2439096"/>
              <a:gd name="connsiteY3" fmla="*/ 495300 h 5091059"/>
              <a:gd name="connsiteX4" fmla="*/ 2439096 w 2439096"/>
              <a:gd name="connsiteY4" fmla="*/ 4750244 h 5091059"/>
              <a:gd name="connsiteX5" fmla="*/ 2098281 w 2439096"/>
              <a:gd name="connsiteY5" fmla="*/ 5091059 h 5091059"/>
              <a:gd name="connsiteX6" fmla="*/ 340815 w 2439096"/>
              <a:gd name="connsiteY6" fmla="*/ 5091059 h 5091059"/>
              <a:gd name="connsiteX7" fmla="*/ 0 w 2439096"/>
              <a:gd name="connsiteY7" fmla="*/ 4750244 h 5091059"/>
              <a:gd name="connsiteX8" fmla="*/ 0 w 2439096"/>
              <a:gd name="connsiteY8" fmla="*/ 495300 h 5091059"/>
              <a:gd name="connsiteX9" fmla="*/ 0 w 2439096"/>
              <a:gd name="connsiteY9" fmla="*/ 340815 h 5091059"/>
              <a:gd name="connsiteX10" fmla="*/ 340815 w 2439096"/>
              <a:gd name="connsiteY10" fmla="*/ 0 h 50910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39096" h="5091059">
                <a:moveTo>
                  <a:pt x="340815" y="0"/>
                </a:moveTo>
                <a:lnTo>
                  <a:pt x="2098281" y="0"/>
                </a:lnTo>
                <a:cubicBezTo>
                  <a:pt x="2286508" y="0"/>
                  <a:pt x="2439096" y="152588"/>
                  <a:pt x="2439096" y="340815"/>
                </a:cubicBezTo>
                <a:lnTo>
                  <a:pt x="2439096" y="495300"/>
                </a:lnTo>
                <a:lnTo>
                  <a:pt x="2439096" y="4750244"/>
                </a:lnTo>
                <a:cubicBezTo>
                  <a:pt x="2439096" y="4938471"/>
                  <a:pt x="2286508" y="5091059"/>
                  <a:pt x="2098281" y="5091059"/>
                </a:cubicBezTo>
                <a:lnTo>
                  <a:pt x="340815" y="5091059"/>
                </a:lnTo>
                <a:cubicBezTo>
                  <a:pt x="152588" y="5091059"/>
                  <a:pt x="0" y="4938471"/>
                  <a:pt x="0" y="4750244"/>
                </a:cubicBezTo>
                <a:lnTo>
                  <a:pt x="0" y="495300"/>
                </a:lnTo>
                <a:lnTo>
                  <a:pt x="0" y="340815"/>
                </a:lnTo>
                <a:cubicBezTo>
                  <a:pt x="0" y="152588"/>
                  <a:pt x="152588" y="0"/>
                  <a:pt x="34081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4572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04737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1C3968AF-EB74-3889-A3BA-E759CFD47B12}"/>
              </a:ext>
            </a:extLst>
          </p:cNvPr>
          <p:cNvSpPr/>
          <p:nvPr userDrawn="1"/>
        </p:nvSpPr>
        <p:spPr>
          <a:xfrm>
            <a:off x="3275012" y="609600"/>
            <a:ext cx="5638800" cy="5638800"/>
          </a:xfrm>
          <a:prstGeom prst="ellipse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6A409372-199C-2F3B-65CD-ADC2E45B43B7}"/>
              </a:ext>
            </a:extLst>
          </p:cNvPr>
          <p:cNvSpPr/>
          <p:nvPr userDrawn="1"/>
        </p:nvSpPr>
        <p:spPr>
          <a:xfrm>
            <a:off x="5561012" y="2022021"/>
            <a:ext cx="838200" cy="2813960"/>
          </a:xfrm>
          <a:prstGeom prst="leftBrace">
            <a:avLst>
              <a:gd name="adj1" fmla="val 34932"/>
              <a:gd name="adj2" fmla="val 50000"/>
            </a:avLst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266838CB-A9BC-715A-18FE-06CCE4A9C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812" y="495300"/>
            <a:ext cx="4572000" cy="5867400"/>
          </a:xfrm>
        </p:spPr>
        <p:txBody>
          <a:bodyPr anchor="ctr">
            <a:normAutofit/>
          </a:bodyPr>
          <a:lstStyle>
            <a:lvl1pPr marL="0" indent="0" algn="r">
              <a:lnSpc>
                <a:spcPct val="110000"/>
              </a:lnSpc>
              <a:defRPr sz="480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454B8043-D1DD-E2EA-772B-D8D38CD37D1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768305" y="2022021"/>
            <a:ext cx="4443413" cy="2813960"/>
          </a:xfrm>
        </p:spPr>
        <p:txBody>
          <a:bodyPr anchor="ctr">
            <a:normAutofit/>
          </a:bodyPr>
          <a:lstStyle>
            <a:lvl1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74320" indent="-2286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anose="020B0604020202020204" pitchFamily="34" charset="0"/>
              <a:buChar char="•"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94360" indent="-2286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anose="020B0604020202020204" pitchFamily="34" charset="0"/>
              <a:buChar char="•"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77240" indent="-2286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anose="020B0604020202020204" pitchFamily="34" charset="0"/>
              <a:buChar char="•"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60120" indent="-2286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anose="020B0604020202020204" pitchFamily="34" charset="0"/>
              <a:buChar char="•"/>
              <a:defRPr lang="en-US" sz="2000" kern="1200" spc="3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2422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F4264E2-719A-1CB0-CD0C-B90AD51C2384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Cross 8">
            <a:extLst>
              <a:ext uri="{FF2B5EF4-FFF2-40B4-BE49-F238E27FC236}">
                <a16:creationId xmlns:a16="http://schemas.microsoft.com/office/drawing/2014/main" id="{7A96460A-640C-6025-AAB5-344AB2A405D1}"/>
              </a:ext>
            </a:extLst>
          </p:cNvPr>
          <p:cNvSpPr/>
          <p:nvPr userDrawn="1"/>
        </p:nvSpPr>
        <p:spPr>
          <a:xfrm>
            <a:off x="8151812" y="567055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FC60D2C4-E19C-088F-24AA-92F462879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08F9375-0CED-7A7E-FAD2-5469CE00A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3" name="Footer Placeholder 4">
            <a:extLst>
              <a:ext uri="{FF2B5EF4-FFF2-40B4-BE49-F238E27FC236}">
                <a16:creationId xmlns:a16="http://schemas.microsoft.com/office/drawing/2014/main" id="{C1791A8D-D5A1-DB56-D6C5-A82DB0F267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BE9D901E-58D4-3C47-262B-EA276B7F1D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274" y="2286000"/>
            <a:ext cx="4572000" cy="4267200"/>
          </a:xfrm>
        </p:spPr>
        <p:txBody>
          <a:bodyPr>
            <a:normAutofit/>
          </a:bodyPr>
          <a:lstStyle>
            <a:lvl1pPr marL="4572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365760" indent="0">
              <a:lnSpc>
                <a:spcPct val="110000"/>
              </a:lnSpc>
              <a:buFont typeface="Arial" panose="020B0604020202020204" pitchFamily="34" charset="0"/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5943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7724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960120" indent="0">
              <a:lnSpc>
                <a:spcPct val="110000"/>
              </a:lnSpc>
              <a:buNone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15" name="Cross 14">
            <a:extLst>
              <a:ext uri="{FF2B5EF4-FFF2-40B4-BE49-F238E27FC236}">
                <a16:creationId xmlns:a16="http://schemas.microsoft.com/office/drawing/2014/main" id="{86C1A7B9-E319-130B-0CC8-DCB01B51A087}"/>
              </a:ext>
            </a:extLst>
          </p:cNvPr>
          <p:cNvSpPr/>
          <p:nvPr userDrawn="1"/>
        </p:nvSpPr>
        <p:spPr>
          <a:xfrm>
            <a:off x="7351712" y="44196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20652475-9C37-D778-F6B2-DE9F50F8571A}"/>
              </a:ext>
            </a:extLst>
          </p:cNvPr>
          <p:cNvSpPr/>
          <p:nvPr userDrawn="1"/>
        </p:nvSpPr>
        <p:spPr>
          <a:xfrm>
            <a:off x="8609012" y="-21999"/>
            <a:ext cx="3579812" cy="6901998"/>
          </a:xfrm>
          <a:custGeom>
            <a:avLst/>
            <a:gdLst>
              <a:gd name="connsiteX0" fmla="*/ 3450999 w 3579812"/>
              <a:gd name="connsiteY0" fmla="*/ 0 h 6901998"/>
              <a:gd name="connsiteX1" fmla="*/ 3579812 w 3579812"/>
              <a:gd name="connsiteY1" fmla="*/ 3257 h 6901998"/>
              <a:gd name="connsiteX2" fmla="*/ 3579812 w 3579812"/>
              <a:gd name="connsiteY2" fmla="*/ 6898741 h 6901998"/>
              <a:gd name="connsiteX3" fmla="*/ 3450999 w 3579812"/>
              <a:gd name="connsiteY3" fmla="*/ 6901998 h 6901998"/>
              <a:gd name="connsiteX4" fmla="*/ 0 w 3579812"/>
              <a:gd name="connsiteY4" fmla="*/ 3450999 h 6901998"/>
              <a:gd name="connsiteX5" fmla="*/ 3450999 w 3579812"/>
              <a:gd name="connsiteY5" fmla="*/ 0 h 6901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79812" h="6901998">
                <a:moveTo>
                  <a:pt x="3450999" y="0"/>
                </a:moveTo>
                <a:lnTo>
                  <a:pt x="3579812" y="3257"/>
                </a:lnTo>
                <a:lnTo>
                  <a:pt x="3579812" y="6898741"/>
                </a:lnTo>
                <a:lnTo>
                  <a:pt x="3450999" y="6901998"/>
                </a:lnTo>
                <a:cubicBezTo>
                  <a:pt x="1545065" y="6901998"/>
                  <a:pt x="0" y="5356933"/>
                  <a:pt x="0" y="3450999"/>
                </a:cubicBezTo>
                <a:cubicBezTo>
                  <a:pt x="0" y="1545065"/>
                  <a:pt x="1545065" y="0"/>
                  <a:pt x="3450999" y="0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41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Computer Monit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7D5A8CDC-7BE6-361B-2965-88F977B1F050}"/>
              </a:ext>
            </a:extLst>
          </p:cNvPr>
          <p:cNvSpPr/>
          <p:nvPr userDrawn="1"/>
        </p:nvSpPr>
        <p:spPr>
          <a:xfrm>
            <a:off x="6704012" y="838202"/>
            <a:ext cx="5029198" cy="5029198"/>
          </a:xfrm>
          <a:prstGeom prst="ellipse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C13E5D-0B96-580C-032F-0323F5B935D3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97F2A9A7-1093-A563-8A0E-4C8DB0E669A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42112" y="1752600"/>
            <a:ext cx="4951066" cy="38100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E33374C0-ECC0-0DB1-D167-0EF643B5A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C465CD4-231A-6C85-3D9B-E21738DB5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A583352B-64D3-C6FC-B554-91866CBEBC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647C9D80-85BC-5E0B-E24A-6217CFE72A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0038AE2-F2EF-FEA5-D6B4-5C539A252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274" y="2286000"/>
            <a:ext cx="4572000" cy="3962400"/>
          </a:xfrm>
        </p:spPr>
        <p:txBody>
          <a:bodyPr>
            <a:normAutofit/>
          </a:bodyPr>
          <a:lstStyle>
            <a:lvl1pPr marL="4572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3657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5943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7724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960120" indent="0">
              <a:lnSpc>
                <a:spcPct val="110000"/>
              </a:lnSpc>
              <a:buNone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1F5E297-E771-7AE4-7311-0874043A4B3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045945" y="2057400"/>
            <a:ext cx="4343400" cy="2688336"/>
          </a:xfrm>
          <a:custGeom>
            <a:avLst/>
            <a:gdLst>
              <a:gd name="connsiteX0" fmla="*/ 25620 w 4343400"/>
              <a:gd name="connsiteY0" fmla="*/ 0 h 2688336"/>
              <a:gd name="connsiteX1" fmla="*/ 4317780 w 4343400"/>
              <a:gd name="connsiteY1" fmla="*/ 0 h 2688336"/>
              <a:gd name="connsiteX2" fmla="*/ 4343400 w 4343400"/>
              <a:gd name="connsiteY2" fmla="*/ 25620 h 2688336"/>
              <a:gd name="connsiteX3" fmla="*/ 4343400 w 4343400"/>
              <a:gd name="connsiteY3" fmla="*/ 2662716 h 2688336"/>
              <a:gd name="connsiteX4" fmla="*/ 4317780 w 4343400"/>
              <a:gd name="connsiteY4" fmla="*/ 2688336 h 2688336"/>
              <a:gd name="connsiteX5" fmla="*/ 25620 w 4343400"/>
              <a:gd name="connsiteY5" fmla="*/ 2688336 h 2688336"/>
              <a:gd name="connsiteX6" fmla="*/ 0 w 4343400"/>
              <a:gd name="connsiteY6" fmla="*/ 2662716 h 2688336"/>
              <a:gd name="connsiteX7" fmla="*/ 0 w 4343400"/>
              <a:gd name="connsiteY7" fmla="*/ 25620 h 2688336"/>
              <a:gd name="connsiteX8" fmla="*/ 25620 w 4343400"/>
              <a:gd name="connsiteY8" fmla="*/ 0 h 26883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43400" h="2688336">
                <a:moveTo>
                  <a:pt x="25620" y="0"/>
                </a:moveTo>
                <a:lnTo>
                  <a:pt x="4317780" y="0"/>
                </a:lnTo>
                <a:cubicBezTo>
                  <a:pt x="4331930" y="0"/>
                  <a:pt x="4343400" y="11470"/>
                  <a:pt x="4343400" y="25620"/>
                </a:cubicBezTo>
                <a:lnTo>
                  <a:pt x="4343400" y="2662716"/>
                </a:lnTo>
                <a:cubicBezTo>
                  <a:pt x="4343400" y="2676866"/>
                  <a:pt x="4331930" y="2688336"/>
                  <a:pt x="4317780" y="2688336"/>
                </a:cubicBezTo>
                <a:lnTo>
                  <a:pt x="25620" y="2688336"/>
                </a:lnTo>
                <a:cubicBezTo>
                  <a:pt x="11470" y="2688336"/>
                  <a:pt x="0" y="2676866"/>
                  <a:pt x="0" y="2662716"/>
                </a:cubicBezTo>
                <a:lnTo>
                  <a:pt x="0" y="25620"/>
                </a:lnTo>
                <a:cubicBezTo>
                  <a:pt x="0" y="11470"/>
                  <a:pt x="11470" y="0"/>
                  <a:pt x="2562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4572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97288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4761B-B29B-1C47-FAE9-6E0FA1543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012" y="685800"/>
            <a:ext cx="5687336" cy="5288730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defRPr sz="480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Cross 2">
            <a:extLst>
              <a:ext uri="{FF2B5EF4-FFF2-40B4-BE49-F238E27FC236}">
                <a16:creationId xmlns:a16="http://schemas.microsoft.com/office/drawing/2014/main" id="{9D098DB9-0987-4850-3A4E-90EECD01BFED}"/>
              </a:ext>
            </a:extLst>
          </p:cNvPr>
          <p:cNvSpPr/>
          <p:nvPr userDrawn="1"/>
        </p:nvSpPr>
        <p:spPr>
          <a:xfrm>
            <a:off x="7130149" y="3969437"/>
            <a:ext cx="640662" cy="640662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320F41B-7946-84A8-649E-B8D2394410B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" r="42412"/>
          <a:stretch/>
        </p:blipFill>
        <p:spPr>
          <a:xfrm>
            <a:off x="7134779" y="533400"/>
            <a:ext cx="5054045" cy="5588000"/>
          </a:xfrm>
          <a:prstGeom prst="rect">
            <a:avLst/>
          </a:prstGeom>
        </p:spPr>
      </p:pic>
      <p:sp>
        <p:nvSpPr>
          <p:cNvPr id="6" name="Cross 5">
            <a:extLst>
              <a:ext uri="{FF2B5EF4-FFF2-40B4-BE49-F238E27FC236}">
                <a16:creationId xmlns:a16="http://schemas.microsoft.com/office/drawing/2014/main" id="{D3F324A7-F228-C486-182B-84D6C27A93B8}"/>
              </a:ext>
            </a:extLst>
          </p:cNvPr>
          <p:cNvSpPr/>
          <p:nvPr userDrawn="1"/>
        </p:nvSpPr>
        <p:spPr>
          <a:xfrm>
            <a:off x="6368151" y="2407337"/>
            <a:ext cx="640662" cy="640662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0" name="Picture Placeholder 20">
            <a:extLst>
              <a:ext uri="{FF2B5EF4-FFF2-40B4-BE49-F238E27FC236}">
                <a16:creationId xmlns:a16="http://schemas.microsoft.com/office/drawing/2014/main" id="{0EE33DD4-E993-7039-2B48-6FAFAE32A9F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19745" y="990600"/>
            <a:ext cx="4069080" cy="4384979"/>
          </a:xfrm>
          <a:custGeom>
            <a:avLst/>
            <a:gdLst>
              <a:gd name="connsiteX0" fmla="*/ 3553733 w 4390346"/>
              <a:gd name="connsiteY0" fmla="*/ 0 h 4693920"/>
              <a:gd name="connsiteX1" fmla="*/ 4390346 w 4390346"/>
              <a:gd name="connsiteY1" fmla="*/ 0 h 4693920"/>
              <a:gd name="connsiteX2" fmla="*/ 4390346 w 4390346"/>
              <a:gd name="connsiteY2" fmla="*/ 4690872 h 4693920"/>
              <a:gd name="connsiteX3" fmla="*/ 3721482 w 4390346"/>
              <a:gd name="connsiteY3" fmla="*/ 4690872 h 4693920"/>
              <a:gd name="connsiteX4" fmla="*/ 3721482 w 4390346"/>
              <a:gd name="connsiteY4" fmla="*/ 4693920 h 4693920"/>
              <a:gd name="connsiteX5" fmla="*/ 197252 w 4390346"/>
              <a:gd name="connsiteY5" fmla="*/ 4693920 h 4693920"/>
              <a:gd name="connsiteX6" fmla="*/ 167017 w 4390346"/>
              <a:gd name="connsiteY6" fmla="*/ 4690872 h 4693920"/>
              <a:gd name="connsiteX7" fmla="*/ 0 w 4390346"/>
              <a:gd name="connsiteY7" fmla="*/ 4690872 h 4693920"/>
              <a:gd name="connsiteX8" fmla="*/ 0 w 4390346"/>
              <a:gd name="connsiteY8" fmla="*/ 4232970 h 4693920"/>
              <a:gd name="connsiteX9" fmla="*/ 1 w 4390346"/>
              <a:gd name="connsiteY9" fmla="*/ 4232970 h 4693920"/>
              <a:gd name="connsiteX10" fmla="*/ 1 w 4390346"/>
              <a:gd name="connsiteY10" fmla="*/ 200299 h 4693920"/>
              <a:gd name="connsiteX11" fmla="*/ 197252 w 4390346"/>
              <a:gd name="connsiteY11" fmla="*/ 3048 h 4693920"/>
              <a:gd name="connsiteX12" fmla="*/ 3553733 w 4390346"/>
              <a:gd name="connsiteY12" fmla="*/ 3048 h 4693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390346" h="4693920">
                <a:moveTo>
                  <a:pt x="3553733" y="0"/>
                </a:moveTo>
                <a:lnTo>
                  <a:pt x="4390346" y="0"/>
                </a:lnTo>
                <a:lnTo>
                  <a:pt x="4390346" y="4690872"/>
                </a:lnTo>
                <a:lnTo>
                  <a:pt x="3721482" y="4690872"/>
                </a:lnTo>
                <a:lnTo>
                  <a:pt x="3721482" y="4693920"/>
                </a:lnTo>
                <a:lnTo>
                  <a:pt x="197252" y="4693920"/>
                </a:lnTo>
                <a:lnTo>
                  <a:pt x="167017" y="4690872"/>
                </a:lnTo>
                <a:lnTo>
                  <a:pt x="0" y="4690872"/>
                </a:lnTo>
                <a:lnTo>
                  <a:pt x="0" y="4232970"/>
                </a:lnTo>
                <a:lnTo>
                  <a:pt x="1" y="4232970"/>
                </a:lnTo>
                <a:lnTo>
                  <a:pt x="1" y="200299"/>
                </a:lnTo>
                <a:cubicBezTo>
                  <a:pt x="1" y="91360"/>
                  <a:pt x="88313" y="3048"/>
                  <a:pt x="197252" y="3048"/>
                </a:cubicBezTo>
                <a:lnTo>
                  <a:pt x="3553733" y="3048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4572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76470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Acc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7D5A8CDC-7BE6-361B-2965-88F977B1F050}"/>
              </a:ext>
            </a:extLst>
          </p:cNvPr>
          <p:cNvSpPr/>
          <p:nvPr userDrawn="1"/>
        </p:nvSpPr>
        <p:spPr>
          <a:xfrm>
            <a:off x="6361114" y="1317171"/>
            <a:ext cx="5029198" cy="5029198"/>
          </a:xfrm>
          <a:prstGeom prst="ellipse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C13E5D-0B96-580C-032F-0323F5B935D3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33374C0-ECC0-0DB1-D167-0EF643B5A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C465CD4-231A-6C85-3D9B-E21738DB5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A583352B-64D3-C6FC-B554-91866CBEBC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647C9D80-85BC-5E0B-E24A-6217CFE72A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0038AE2-F2EF-FEA5-D6B4-5C539A252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274" y="2286000"/>
            <a:ext cx="4572000" cy="3962400"/>
          </a:xfrm>
        </p:spPr>
        <p:txBody>
          <a:bodyPr>
            <a:normAutofit/>
          </a:bodyPr>
          <a:lstStyle>
            <a:lvl1pPr marL="331470" indent="-28575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651510" indent="-28575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880110" indent="-28575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62990" indent="-28575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245870" indent="-285750">
              <a:lnSpc>
                <a:spcPct val="110000"/>
              </a:lnSpc>
              <a:buFont typeface="Arial" panose="020B0604020202020204" pitchFamily="34" charset="0"/>
              <a:buChar char="•"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20B2A3A-FF4C-298C-0165-DB61E8935F6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4413" y="2286000"/>
            <a:ext cx="5562600" cy="3962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893288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ab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6C13E5D-0B96-580C-032F-0323F5B935D3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33374C0-ECC0-0DB1-D167-0EF643B5A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C465CD4-231A-6C85-3D9B-E21738DB5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A583352B-64D3-C6FC-B554-91866CBEBC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647C9D80-85BC-5E0B-E24A-6217CFE72A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0038AE2-F2EF-FEA5-D6B4-5C539A252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274" y="2286000"/>
            <a:ext cx="4572000" cy="3962400"/>
          </a:xfrm>
        </p:spPr>
        <p:txBody>
          <a:bodyPr>
            <a:normAutofit/>
          </a:bodyPr>
          <a:lstStyle>
            <a:lvl1pPr marL="45720" indent="0">
              <a:lnSpc>
                <a:spcPct val="110000"/>
              </a:lnSpc>
              <a:buNone/>
              <a:defRPr 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331470" indent="-285750">
              <a:lnSpc>
                <a:spcPct val="11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594360" indent="-22860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77240" indent="-22860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960120" indent="-228600">
              <a:lnSpc>
                <a:spcPct val="110000"/>
              </a:lnSpc>
              <a:buFont typeface="Arial" panose="020B0604020202020204" pitchFamily="34" charset="0"/>
              <a:buChar char="•"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6EA47FDD-142D-1BE6-8057-A6CC1A71222C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6094413" y="2286000"/>
            <a:ext cx="5558794" cy="3962400"/>
          </a:xfrm>
        </p:spPr>
        <p:txBody>
          <a:bodyPr/>
          <a:lstStyle>
            <a:lvl1pPr marL="45720" indent="0">
              <a:buNone/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03946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E2E1990-ECE7-FA08-4966-BE3109399672}"/>
              </a:ext>
            </a:extLst>
          </p:cNvPr>
          <p:cNvSpPr/>
          <p:nvPr userDrawn="1"/>
        </p:nvSpPr>
        <p:spPr>
          <a:xfrm>
            <a:off x="7026044" y="0"/>
            <a:ext cx="4461334" cy="1981200"/>
          </a:xfrm>
          <a:custGeom>
            <a:avLst/>
            <a:gdLst>
              <a:gd name="connsiteX0" fmla="*/ 0 w 4461334"/>
              <a:gd name="connsiteY0" fmla="*/ 0 h 1981200"/>
              <a:gd name="connsiteX1" fmla="*/ 4461334 w 4461334"/>
              <a:gd name="connsiteY1" fmla="*/ 0 h 1981200"/>
              <a:gd name="connsiteX2" fmla="*/ 4432897 w 4461334"/>
              <a:gd name="connsiteY2" fmla="*/ 186331 h 1981200"/>
              <a:gd name="connsiteX3" fmla="*/ 2230667 w 4461334"/>
              <a:gd name="connsiteY3" fmla="*/ 1981200 h 1981200"/>
              <a:gd name="connsiteX4" fmla="*/ 28437 w 4461334"/>
              <a:gd name="connsiteY4" fmla="*/ 186331 h 1981200"/>
              <a:gd name="connsiteX5" fmla="*/ 0 w 4461334"/>
              <a:gd name="connsiteY5" fmla="*/ 0 h 198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61334" h="1981200">
                <a:moveTo>
                  <a:pt x="0" y="0"/>
                </a:moveTo>
                <a:lnTo>
                  <a:pt x="4461334" y="0"/>
                </a:lnTo>
                <a:lnTo>
                  <a:pt x="4432897" y="186331"/>
                </a:lnTo>
                <a:cubicBezTo>
                  <a:pt x="4223288" y="1210661"/>
                  <a:pt x="3316962" y="1981200"/>
                  <a:pt x="2230667" y="1981200"/>
                </a:cubicBezTo>
                <a:cubicBezTo>
                  <a:pt x="1144372" y="1981200"/>
                  <a:pt x="238046" y="1210661"/>
                  <a:pt x="28437" y="186331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E1D9EB0-EE8E-A9E8-9583-2D924EFA65AF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AC00260-F255-D312-3E7C-329EECDFD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9C7904-6373-06D6-713A-79D78DD61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0583D396-7FDF-332F-BEA4-791452AB13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157FA249-0BE5-21BF-D816-85FBE6C4BD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FD06F443-9595-7420-13F2-7AF883FDE5E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1293811" y="2743200"/>
            <a:ext cx="10134601" cy="35052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09171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B6A45E1A-7551-6F54-D038-074B58A3B73E}"/>
              </a:ext>
            </a:extLst>
          </p:cNvPr>
          <p:cNvSpPr/>
          <p:nvPr userDrawn="1"/>
        </p:nvSpPr>
        <p:spPr>
          <a:xfrm>
            <a:off x="7026044" y="0"/>
            <a:ext cx="4461334" cy="1981200"/>
          </a:xfrm>
          <a:custGeom>
            <a:avLst/>
            <a:gdLst>
              <a:gd name="connsiteX0" fmla="*/ 0 w 4461334"/>
              <a:gd name="connsiteY0" fmla="*/ 0 h 1981200"/>
              <a:gd name="connsiteX1" fmla="*/ 4461334 w 4461334"/>
              <a:gd name="connsiteY1" fmla="*/ 0 h 1981200"/>
              <a:gd name="connsiteX2" fmla="*/ 4432897 w 4461334"/>
              <a:gd name="connsiteY2" fmla="*/ 186331 h 1981200"/>
              <a:gd name="connsiteX3" fmla="*/ 2230667 w 4461334"/>
              <a:gd name="connsiteY3" fmla="*/ 1981200 h 1981200"/>
              <a:gd name="connsiteX4" fmla="*/ 28437 w 4461334"/>
              <a:gd name="connsiteY4" fmla="*/ 186331 h 1981200"/>
              <a:gd name="connsiteX5" fmla="*/ 0 w 4461334"/>
              <a:gd name="connsiteY5" fmla="*/ 0 h 198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61334" h="1981200">
                <a:moveTo>
                  <a:pt x="0" y="0"/>
                </a:moveTo>
                <a:lnTo>
                  <a:pt x="4461334" y="0"/>
                </a:lnTo>
                <a:lnTo>
                  <a:pt x="4432897" y="186331"/>
                </a:lnTo>
                <a:cubicBezTo>
                  <a:pt x="4223288" y="1210661"/>
                  <a:pt x="3316962" y="1981200"/>
                  <a:pt x="2230667" y="1981200"/>
                </a:cubicBezTo>
                <a:cubicBezTo>
                  <a:pt x="1144372" y="1981200"/>
                  <a:pt x="238046" y="1210661"/>
                  <a:pt x="28437" y="186331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5C97BE-6AF8-5928-B560-739552D148BA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Cross 5">
            <a:extLst>
              <a:ext uri="{FF2B5EF4-FFF2-40B4-BE49-F238E27FC236}">
                <a16:creationId xmlns:a16="http://schemas.microsoft.com/office/drawing/2014/main" id="{049F4FA0-ECA1-9CE1-60CD-491656F225D3}"/>
              </a:ext>
            </a:extLst>
          </p:cNvPr>
          <p:cNvSpPr/>
          <p:nvPr userDrawn="1"/>
        </p:nvSpPr>
        <p:spPr>
          <a:xfrm>
            <a:off x="6683143" y="13970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7" name="Cross 6">
            <a:extLst>
              <a:ext uri="{FF2B5EF4-FFF2-40B4-BE49-F238E27FC236}">
                <a16:creationId xmlns:a16="http://schemas.microsoft.com/office/drawing/2014/main" id="{E0F6845B-3635-28EA-BA6E-5535FE48E8B0}"/>
              </a:ext>
            </a:extLst>
          </p:cNvPr>
          <p:cNvSpPr/>
          <p:nvPr userDrawn="1"/>
        </p:nvSpPr>
        <p:spPr>
          <a:xfrm>
            <a:off x="11085513" y="56388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1B5BD44-F42D-3B65-BB68-E5C76C4E0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6F22956-4B4B-B972-CE6C-282D1D591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Footer Placeholder 4">
            <a:extLst>
              <a:ext uri="{FF2B5EF4-FFF2-40B4-BE49-F238E27FC236}">
                <a16:creationId xmlns:a16="http://schemas.microsoft.com/office/drawing/2014/main" id="{C319E7A6-A7BC-1FD9-6936-D83244A4083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2180FD49-43D5-4D47-7DA7-BF05B579F2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11B92F8-C070-2CE8-09EC-DAB8F879C21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293812" y="2438400"/>
            <a:ext cx="4911725" cy="4114799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>
              <a:lnSpc>
                <a:spcPct val="110000"/>
              </a:lnSpc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A79808F-B1FF-C536-B44F-59CEA545BFD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516689" y="2438400"/>
            <a:ext cx="4911725" cy="4114799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>
              <a:lnSpc>
                <a:spcPct val="110000"/>
              </a:lnSpc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015491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B09E2F69-D76D-62CD-4B4B-52AB2F720DE4}"/>
              </a:ext>
            </a:extLst>
          </p:cNvPr>
          <p:cNvSpPr/>
          <p:nvPr userDrawn="1"/>
        </p:nvSpPr>
        <p:spPr>
          <a:xfrm>
            <a:off x="9958158" y="0"/>
            <a:ext cx="2230666" cy="1981200"/>
          </a:xfrm>
          <a:custGeom>
            <a:avLst/>
            <a:gdLst>
              <a:gd name="connsiteX0" fmla="*/ 0 w 2230666"/>
              <a:gd name="connsiteY0" fmla="*/ 0 h 1981200"/>
              <a:gd name="connsiteX1" fmla="*/ 2230666 w 2230666"/>
              <a:gd name="connsiteY1" fmla="*/ 0 h 1981200"/>
              <a:gd name="connsiteX2" fmla="*/ 2230666 w 2230666"/>
              <a:gd name="connsiteY2" fmla="*/ 1981200 h 1981200"/>
              <a:gd name="connsiteX3" fmla="*/ 2029222 w 2230666"/>
              <a:gd name="connsiteY3" fmla="*/ 1972296 h 1981200"/>
              <a:gd name="connsiteX4" fmla="*/ 28437 w 2230666"/>
              <a:gd name="connsiteY4" fmla="*/ 186331 h 198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30666" h="1981200">
                <a:moveTo>
                  <a:pt x="0" y="0"/>
                </a:moveTo>
                <a:lnTo>
                  <a:pt x="2230666" y="0"/>
                </a:lnTo>
                <a:lnTo>
                  <a:pt x="2230666" y="1981200"/>
                </a:lnTo>
                <a:lnTo>
                  <a:pt x="2029222" y="1972296"/>
                </a:lnTo>
                <a:cubicBezTo>
                  <a:pt x="1033803" y="1883891"/>
                  <a:pt x="224946" y="1146640"/>
                  <a:pt x="28437" y="186331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5C97BE-6AF8-5928-B560-739552D148BA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ross 2">
            <a:extLst>
              <a:ext uri="{FF2B5EF4-FFF2-40B4-BE49-F238E27FC236}">
                <a16:creationId xmlns:a16="http://schemas.microsoft.com/office/drawing/2014/main" id="{A0041296-BAB4-9340-D4A7-59FD619AC52B}"/>
              </a:ext>
            </a:extLst>
          </p:cNvPr>
          <p:cNvSpPr/>
          <p:nvPr userDrawn="1"/>
        </p:nvSpPr>
        <p:spPr>
          <a:xfrm>
            <a:off x="7847012" y="3810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5" name="Cross 4">
            <a:extLst>
              <a:ext uri="{FF2B5EF4-FFF2-40B4-BE49-F238E27FC236}">
                <a16:creationId xmlns:a16="http://schemas.microsoft.com/office/drawing/2014/main" id="{FFABB0BB-C379-786D-46F1-DEB6A507EA80}"/>
              </a:ext>
            </a:extLst>
          </p:cNvPr>
          <p:cNvSpPr/>
          <p:nvPr userDrawn="1"/>
        </p:nvSpPr>
        <p:spPr>
          <a:xfrm>
            <a:off x="8559685" y="10668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20BDC478-129E-9690-F10A-A1F679ABD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BD29393-4996-16FE-FC38-2447AE812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5" name="Footer Placeholder 4">
            <a:extLst>
              <a:ext uri="{FF2B5EF4-FFF2-40B4-BE49-F238E27FC236}">
                <a16:creationId xmlns:a16="http://schemas.microsoft.com/office/drawing/2014/main" id="{2FB2C37F-01F4-8BDA-35AA-8F8EBC5540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EF45931A-8732-7A9F-4CEE-22AA3831A4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11B92F8-C070-2CE8-09EC-DAB8F879C21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293812" y="2286000"/>
            <a:ext cx="4911725" cy="4267200"/>
          </a:xfrm>
        </p:spPr>
        <p:txBody>
          <a:bodyPr>
            <a:normAutofit/>
          </a:bodyPr>
          <a:lstStyle>
            <a:lvl1pPr marL="4572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3657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5943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7724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960120" indent="0">
              <a:lnSpc>
                <a:spcPct val="110000"/>
              </a:lnSpc>
              <a:buNone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A79808F-B1FF-C536-B44F-59CEA545BFD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516689" y="2286000"/>
            <a:ext cx="4911725" cy="4267200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>
              <a:lnSpc>
                <a:spcPct val="110000"/>
              </a:lnSpc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254294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gradFill>
          <a:gsLst>
            <a:gs pos="0">
              <a:schemeClr val="accent2">
                <a:lumMod val="110000"/>
                <a:satMod val="105000"/>
                <a:tint val="67000"/>
                <a:alpha val="0"/>
              </a:schemeClr>
            </a:gs>
            <a:gs pos="100000">
              <a:schemeClr val="bg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5FB068A-9EE1-FCD9-54F9-D1322A68868B}"/>
              </a:ext>
            </a:extLst>
          </p:cNvPr>
          <p:cNvSpPr/>
          <p:nvPr userDrawn="1"/>
        </p:nvSpPr>
        <p:spPr>
          <a:xfrm>
            <a:off x="2132012" y="0"/>
            <a:ext cx="7924800" cy="6858000"/>
          </a:xfrm>
          <a:custGeom>
            <a:avLst/>
            <a:gdLst>
              <a:gd name="connsiteX0" fmla="*/ 1982890 w 7924800"/>
              <a:gd name="connsiteY0" fmla="*/ 0 h 6858000"/>
              <a:gd name="connsiteX1" fmla="*/ 5941911 w 7924800"/>
              <a:gd name="connsiteY1" fmla="*/ 0 h 6858000"/>
              <a:gd name="connsiteX2" fmla="*/ 6177816 w 7924800"/>
              <a:gd name="connsiteY2" fmla="*/ 143316 h 6858000"/>
              <a:gd name="connsiteX3" fmla="*/ 7924800 w 7924800"/>
              <a:gd name="connsiteY3" fmla="*/ 3429000 h 6858000"/>
              <a:gd name="connsiteX4" fmla="*/ 6017049 w 7924800"/>
              <a:gd name="connsiteY4" fmla="*/ 6817750 h 6858000"/>
              <a:gd name="connsiteX5" fmla="*/ 5947047 w 7924800"/>
              <a:gd name="connsiteY5" fmla="*/ 6858000 h 6858000"/>
              <a:gd name="connsiteX6" fmla="*/ 1977753 w 7924800"/>
              <a:gd name="connsiteY6" fmla="*/ 6858000 h 6858000"/>
              <a:gd name="connsiteX7" fmla="*/ 1907752 w 7924800"/>
              <a:gd name="connsiteY7" fmla="*/ 6817750 h 6858000"/>
              <a:gd name="connsiteX8" fmla="*/ 0 w 7924800"/>
              <a:gd name="connsiteY8" fmla="*/ 3429000 h 6858000"/>
              <a:gd name="connsiteX9" fmla="*/ 1746985 w 7924800"/>
              <a:gd name="connsiteY9" fmla="*/ 14331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924800" h="6858000">
                <a:moveTo>
                  <a:pt x="1982890" y="0"/>
                </a:moveTo>
                <a:lnTo>
                  <a:pt x="5941911" y="0"/>
                </a:lnTo>
                <a:lnTo>
                  <a:pt x="6177816" y="143316"/>
                </a:lnTo>
                <a:cubicBezTo>
                  <a:pt x="7231821" y="855388"/>
                  <a:pt x="7924800" y="2061267"/>
                  <a:pt x="7924800" y="3429000"/>
                </a:cubicBezTo>
                <a:cubicBezTo>
                  <a:pt x="7924800" y="4865120"/>
                  <a:pt x="7160790" y="6122796"/>
                  <a:pt x="6017049" y="6817750"/>
                </a:cubicBezTo>
                <a:lnTo>
                  <a:pt x="5947047" y="6858000"/>
                </a:lnTo>
                <a:lnTo>
                  <a:pt x="1977753" y="6858000"/>
                </a:lnTo>
                <a:lnTo>
                  <a:pt x="1907752" y="6817750"/>
                </a:lnTo>
                <a:cubicBezTo>
                  <a:pt x="764010" y="6122796"/>
                  <a:pt x="0" y="4865120"/>
                  <a:pt x="0" y="3429000"/>
                </a:cubicBezTo>
                <a:cubicBezTo>
                  <a:pt x="0" y="2061267"/>
                  <a:pt x="692980" y="855388"/>
                  <a:pt x="1746985" y="143316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6A409372-199C-2F3B-65CD-ADC2E45B43B7}"/>
              </a:ext>
            </a:extLst>
          </p:cNvPr>
          <p:cNvSpPr/>
          <p:nvPr userDrawn="1"/>
        </p:nvSpPr>
        <p:spPr>
          <a:xfrm>
            <a:off x="5561012" y="2022021"/>
            <a:ext cx="838200" cy="2813960"/>
          </a:xfrm>
          <a:prstGeom prst="leftBrace">
            <a:avLst>
              <a:gd name="adj1" fmla="val 34932"/>
              <a:gd name="adj2" fmla="val 50000"/>
            </a:avLst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47599E9-7877-89FF-8C57-FEF4C3C86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812" y="495300"/>
            <a:ext cx="4572000" cy="5867400"/>
          </a:xfrm>
        </p:spPr>
        <p:txBody>
          <a:bodyPr anchor="ctr">
            <a:normAutofit/>
          </a:bodyPr>
          <a:lstStyle>
            <a:lvl1pPr marL="0" indent="0" algn="r">
              <a:lnSpc>
                <a:spcPct val="110000"/>
              </a:lnSpc>
              <a:defRPr sz="480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22A2F27B-8DDF-057C-B969-50B4B8C3D2A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768305" y="2247900"/>
            <a:ext cx="4443413" cy="2400300"/>
          </a:xfrm>
        </p:spPr>
        <p:txBody>
          <a:bodyPr anchor="ctr">
            <a:normAutofit/>
          </a:bodyPr>
          <a:lstStyle>
            <a:lvl1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3367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1065212" y="533400"/>
            <a:ext cx="8686801" cy="1066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5212" y="1828800"/>
            <a:ext cx="8686801" cy="4191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5213" y="6155267"/>
            <a:ext cx="5653087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32612" y="6155267"/>
            <a:ext cx="1371600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2812" y="6155267"/>
            <a:ext cx="1219201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7670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2" r:id="rId2"/>
    <p:sldLayoutId id="2147483695" r:id="rId3"/>
    <p:sldLayoutId id="2147483685" r:id="rId4"/>
    <p:sldLayoutId id="2147483662" r:id="rId5"/>
    <p:sldLayoutId id="2147483682" r:id="rId6"/>
    <p:sldLayoutId id="2147483696" r:id="rId7"/>
    <p:sldLayoutId id="2147483693" r:id="rId8"/>
    <p:sldLayoutId id="2147483692" r:id="rId9"/>
    <p:sldLayoutId id="2147483676" r:id="rId10"/>
    <p:sldLayoutId id="2147483665" r:id="rId11"/>
    <p:sldLayoutId id="2147483688" r:id="rId12"/>
    <p:sldLayoutId id="2147483686" r:id="rId13"/>
  </p:sldLayoutIdLs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1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7724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6012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3716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3444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137160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150876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164592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2">
                <a:lumMod val="110000"/>
                <a:satMod val="105000"/>
                <a:tint val="67000"/>
                <a:alpha val="0"/>
              </a:schemeClr>
            </a:gs>
            <a:gs pos="100000">
              <a:schemeClr val="bg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84212" y="1295400"/>
            <a:ext cx="10287000" cy="3886200"/>
          </a:xfrm>
        </p:spPr>
        <p:txBody>
          <a:bodyPr anchor="b">
            <a:normAutofit/>
          </a:bodyPr>
          <a:lstStyle/>
          <a:p>
            <a:r>
              <a:rPr lang="en-US" dirty="0"/>
              <a:t>Hospital Performance &amp; Readmission Analytics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684212" y="5600700"/>
            <a:ext cx="10287000" cy="533400"/>
          </a:xfrm>
        </p:spPr>
        <p:txBody>
          <a:bodyPr>
            <a:normAutofit/>
          </a:bodyPr>
          <a:lstStyle/>
          <a:p>
            <a:r>
              <a:rPr lang="en-IN" dirty="0"/>
              <a:t>Healthcare Analytics Project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81281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8B68A17-565E-5F07-D76E-981C2E327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012" y="723900"/>
            <a:ext cx="4114800" cy="5295900"/>
          </a:xfrm>
        </p:spPr>
        <p:txBody>
          <a:bodyPr/>
          <a:lstStyle/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 Overview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88C46-D0BC-4307-AE55-7601A139E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32612" y="1981200"/>
            <a:ext cx="4114800" cy="2854781"/>
          </a:xfrm>
        </p:spPr>
        <p:txBody>
          <a:bodyPr vert="horz" lIns="91416" tIns="45708" rIns="91416" bIns="45708" rtlCol="0" anchor="ctr">
            <a:normAutofit fontScale="85000" lnSpcReduction="20000"/>
          </a:bodyPr>
          <a:lstStyle/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project uses 10,000+ hospital records:</a:t>
            </a:r>
          </a:p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Patient Master Data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Demographics &amp; admission details</a:t>
            </a:r>
          </a:p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Insurance Claims Data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Claim status &amp; settlement details</a:t>
            </a:r>
          </a:p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Treatment Cost Data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Cost breakdown per patient</a:t>
            </a:r>
          </a:p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Hospital Operations Data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Bed occupancy &amp; staffing</a:t>
            </a:r>
          </a:p>
        </p:txBody>
      </p:sp>
    </p:spTree>
    <p:extLst>
      <p:ext uri="{BB962C8B-B14F-4D97-AF65-F5344CB8AC3E}">
        <p14:creationId xmlns:p14="http://schemas.microsoft.com/office/powerpoint/2010/main" val="1325608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8012" y="685800"/>
            <a:ext cx="6372818" cy="1879104"/>
          </a:xfrm>
        </p:spPr>
        <p:txBody>
          <a:bodyPr anchor="b">
            <a:normAutofit/>
          </a:bodyPr>
          <a:lstStyle/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Objectives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9B989A75-8BF6-6DE9-1AB9-424401DB39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8013" y="2876550"/>
            <a:ext cx="6372817" cy="3432770"/>
          </a:xfrm>
        </p:spPr>
        <p:txBody>
          <a:bodyPr>
            <a:normAutofit/>
          </a:bodyPr>
          <a:lstStyle/>
          <a:p>
            <a:pPr marL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Monitor overall readmission rate</a:t>
            </a:r>
          </a:p>
          <a:p>
            <a:pPr marL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Identify high-risk patient segments</a:t>
            </a:r>
          </a:p>
          <a:p>
            <a:pPr marL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Reduce claim rejection losses</a:t>
            </a:r>
          </a:p>
          <a:p>
            <a:pPr marL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Improve payer settlement efficiency</a:t>
            </a:r>
          </a:p>
          <a:p>
            <a:pPr marL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Optimize bed occupancy and staffing</a:t>
            </a:r>
          </a:p>
          <a:p>
            <a:pPr marL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Develop executive-level KPI dashboard</a:t>
            </a:r>
          </a:p>
        </p:txBody>
      </p:sp>
      <p:pic>
        <p:nvPicPr>
          <p:cNvPr id="45" name="Picture Placeholder 44" descr="Chart on a mobile device">
            <a:extLst>
              <a:ext uri="{FF2B5EF4-FFF2-40B4-BE49-F238E27FC236}">
                <a16:creationId xmlns:a16="http://schemas.microsoft.com/office/drawing/2014/main" id="{9731B764-336F-5EF9-5FCF-4EA90ACB8D9C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" b="24"/>
          <a:stretch/>
        </p:blipFill>
        <p:spPr>
          <a:xfrm>
            <a:off x="7765046" y="883471"/>
            <a:ext cx="2439096" cy="5091059"/>
          </a:xfrm>
        </p:spPr>
      </p:pic>
    </p:spTree>
    <p:extLst>
      <p:ext uri="{BB962C8B-B14F-4D97-AF65-F5344CB8AC3E}">
        <p14:creationId xmlns:p14="http://schemas.microsoft.com/office/powerpoint/2010/main" val="18089019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2" y="609600"/>
            <a:ext cx="8112968" cy="587152"/>
          </a:xfrm>
        </p:spPr>
        <p:txBody>
          <a:bodyPr anchor="t">
            <a:normAutofit/>
          </a:bodyPr>
          <a:lstStyle/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Cleaning Approach (Excel)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7B95A416-05FC-CE36-FB78-577BDA375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/>
          <a:p>
            <a:fld id="{AAEAE4A8-A6E5-453E-B946-FB774B73F48C}" type="slidenum">
              <a:rPr lang="en-US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pPr/>
              <a:t>4</a:t>
            </a:fld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3812" y="1209395"/>
            <a:ext cx="7104856" cy="42672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3147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Performed complete data cleaning in Excel:</a:t>
            </a:r>
          </a:p>
          <a:p>
            <a:pPr marL="33147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Standardized Gender, Department &amp; Insurance Type</a:t>
            </a:r>
          </a:p>
          <a:p>
            <a:pPr marL="33147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Created Age Band column</a:t>
            </a:r>
          </a:p>
          <a:p>
            <a:pPr marL="33147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Calculated Length of Stay (LOS)</a:t>
            </a:r>
          </a:p>
          <a:p>
            <a:pPr marL="33147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Created Readmission Flag</a:t>
            </a:r>
          </a:p>
          <a:p>
            <a:pPr marL="33147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Removed negative financial values</a:t>
            </a:r>
          </a:p>
          <a:p>
            <a:pPr marL="33147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Validated date inconsistencies</a:t>
            </a:r>
          </a:p>
          <a:p>
            <a:pPr marL="33147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Exported cleaned CSV files</a:t>
            </a:r>
          </a:p>
        </p:txBody>
      </p:sp>
    </p:spTree>
    <p:extLst>
      <p:ext uri="{BB962C8B-B14F-4D97-AF65-F5344CB8AC3E}">
        <p14:creationId xmlns:p14="http://schemas.microsoft.com/office/powerpoint/2010/main" val="16373106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>
            <a:normAutofit/>
          </a:bodyPr>
          <a:lstStyle/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Null Handling Strategy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21D1C7-0250-310E-600C-FA985A7F7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/>
          <a:p>
            <a:fld id="{AAEAE4A8-A6E5-453E-B946-FB774B73F48C}" type="slidenum">
              <a:rPr lang="en-US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pPr/>
              <a:t>5</a:t>
            </a:fld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1614" y="1196752"/>
            <a:ext cx="5234845" cy="39624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31470" indent="-285750">
              <a:buChar char="•"/>
            </a:pPr>
            <a:r>
              <a:rPr lang="en-U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 5% Null → Replaced with Median</a:t>
            </a:r>
          </a:p>
          <a:p>
            <a:pPr marL="331470" indent="-285750">
              <a:buChar char="•"/>
            </a:pPr>
            <a:r>
              <a:rPr lang="en-U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5–20% Null → Replaced with Median + documented assumption</a:t>
            </a:r>
          </a:p>
          <a:p>
            <a:pPr marL="331470" indent="-285750">
              <a:buChar char="•"/>
            </a:pPr>
            <a:r>
              <a:rPr lang="en-U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20% Null → Flagged column</a:t>
            </a:r>
          </a:p>
          <a:p>
            <a:pPr marL="331470" indent="-285750">
              <a:buChar char="•"/>
            </a:pPr>
            <a:r>
              <a:rPr lang="en-U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Categorical Null → Replaced with “Unknown”</a:t>
            </a:r>
          </a:p>
          <a:p>
            <a:pPr marL="331470" indent="-285750">
              <a:buChar char="•"/>
            </a:pPr>
            <a:r>
              <a:rPr lang="en-U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Admission Date Null → Record removed</a:t>
            </a:r>
          </a:p>
          <a:p>
            <a:pPr marL="331470" indent="-285750">
              <a:buChar char="•"/>
            </a:pPr>
            <a:r>
              <a:rPr lang="en-U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Settlement Date Null → Marked as Pending</a:t>
            </a:r>
          </a:p>
        </p:txBody>
      </p:sp>
      <p:pic>
        <p:nvPicPr>
          <p:cNvPr id="21" name="Picture Placeholder 20" descr="Charts on a computer monitor">
            <a:extLst>
              <a:ext uri="{FF2B5EF4-FFF2-40B4-BE49-F238E27FC236}">
                <a16:creationId xmlns:a16="http://schemas.microsoft.com/office/drawing/2014/main" id="{E453EF88-26E8-95DB-8E27-6A42911C63F6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" b="28"/>
          <a:stretch/>
        </p:blipFill>
        <p:spPr>
          <a:xfrm>
            <a:off x="7045945" y="2057400"/>
            <a:ext cx="4343400" cy="2688336"/>
          </a:xfrm>
        </p:spPr>
      </p:pic>
    </p:spTree>
    <p:extLst>
      <p:ext uri="{BB962C8B-B14F-4D97-AF65-F5344CB8AC3E}">
        <p14:creationId xmlns:p14="http://schemas.microsoft.com/office/powerpoint/2010/main" val="33881398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796" y="260648"/>
            <a:ext cx="9014792" cy="870992"/>
          </a:xfrm>
        </p:spPr>
        <p:txBody>
          <a:bodyPr anchor="b">
            <a:normAutofit/>
          </a:bodyPr>
          <a:lstStyle/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MySQL Implementation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86DB14-A22A-5ECE-FBE8-9E5BE6A3DC7E}"/>
              </a:ext>
            </a:extLst>
          </p:cNvPr>
          <p:cNvSpPr txBox="1"/>
          <p:nvPr/>
        </p:nvSpPr>
        <p:spPr>
          <a:xfrm>
            <a:off x="477788" y="1268760"/>
            <a:ext cx="6096000" cy="251556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31470" indent="-285750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Char char="•"/>
              <a:defRPr lang="en-US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defRPr>
            </a:lvl1pPr>
            <a:lvl2pPr marL="365760" indent="0">
              <a:lnSpc>
                <a:spcPct val="110000"/>
              </a:lnSpc>
              <a:spcBef>
                <a:spcPts val="10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defRPr>
            </a:lvl2pPr>
            <a:lvl3pPr marL="594360" indent="0">
              <a:lnSpc>
                <a:spcPct val="110000"/>
              </a:lnSpc>
              <a:spcBef>
                <a:spcPts val="6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defRPr>
            </a:lvl3pPr>
            <a:lvl4pPr marL="777240" indent="0">
              <a:lnSpc>
                <a:spcPct val="110000"/>
              </a:lnSpc>
              <a:spcBef>
                <a:spcPts val="6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defRPr>
            </a:lvl4pPr>
            <a:lvl5pPr marL="960120" indent="0">
              <a:lnSpc>
                <a:spcPct val="110000"/>
              </a:lnSpc>
              <a:spcBef>
                <a:spcPts val="6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defRPr>
            </a:lvl5pPr>
            <a:lvl6pPr marL="1234440" indent="-137160">
              <a:spcBef>
                <a:spcPts val="600"/>
              </a:spcBef>
              <a:buSzPct val="80000"/>
              <a:buFont typeface="Arial" pitchFamily="34" charset="0"/>
              <a:buChar char="•"/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6pPr>
            <a:lvl7pPr marL="1371600" indent="-137160">
              <a:spcBef>
                <a:spcPts val="600"/>
              </a:spcBef>
              <a:buSzPct val="80000"/>
              <a:buFont typeface="Arial" pitchFamily="34" charset="0"/>
              <a:buChar char="•"/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7pPr>
            <a:lvl8pPr marL="1508760" indent="-137160">
              <a:spcBef>
                <a:spcPts val="600"/>
              </a:spcBef>
              <a:buSzPct val="80000"/>
              <a:buFont typeface="Arial" pitchFamily="34" charset="0"/>
              <a:buChar char="•"/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8pPr>
            <a:lvl9pPr marL="1645920" indent="-137160">
              <a:spcBef>
                <a:spcPts val="600"/>
              </a:spcBef>
              <a:buSzPct val="80000"/>
              <a:buFont typeface="Arial" pitchFamily="34" charset="0"/>
              <a:buChar char="•"/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9pPr>
          </a:lstStyle>
          <a:p>
            <a:r>
              <a:rPr lang="en-U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Created schema in MySQL</a:t>
            </a:r>
          </a:p>
          <a:p>
            <a:r>
              <a:rPr lang="en-U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Imported cleaned CSV files</a:t>
            </a:r>
          </a:p>
          <a:p>
            <a:r>
              <a:rPr lang="en-U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Validated row counts</a:t>
            </a:r>
          </a:p>
          <a:p>
            <a:r>
              <a:rPr lang="en-U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Created analytical queries (15+)</a:t>
            </a:r>
          </a:p>
          <a:p>
            <a:r>
              <a:rPr lang="en-U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Used aggregation, grouping &amp; conditional logic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2CD0583-72BA-8076-00DF-3CBBAA0B64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037" y="3918871"/>
            <a:ext cx="3048847" cy="126415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39593A8-3913-5FA7-9FDC-9571CBE98B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2164" y="3918871"/>
            <a:ext cx="2415014" cy="126415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5966A5B-FAA7-9D92-705D-6E5A7C5217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7161" y="5183027"/>
            <a:ext cx="2450031" cy="1538304"/>
          </a:xfrm>
          <a:prstGeom prst="rect">
            <a:avLst/>
          </a:prstGeom>
        </p:spPr>
      </p:pic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0D2645D8-0C0F-C326-DE42-7DCA029EF9C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BAC41F0-1C03-A502-2775-A8ACD48E57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5790" y="990600"/>
            <a:ext cx="4099159" cy="4384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7783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C5A1F-6336-5A71-984D-B842577A6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22CB201-7F14-2136-9649-3FFDF3D12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2122" y="249117"/>
            <a:ext cx="6744816" cy="587152"/>
          </a:xfrm>
        </p:spPr>
        <p:txBody>
          <a:bodyPr/>
          <a:lstStyle/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Executive Dashboard Overview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D65E91E-F895-BADD-288B-D67A6980C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318" y="249117"/>
            <a:ext cx="760412" cy="381000"/>
          </a:xfrm>
        </p:spPr>
        <p:txBody>
          <a:bodyPr/>
          <a:lstStyle/>
          <a:p>
            <a:fld id="{AAEAE4A8-A6E5-453E-B946-FB774B73F48C}" type="slidenum">
              <a:rPr lang="en-US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pPr/>
              <a:t>7</a:t>
            </a:fld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1E545E8-CC07-E008-E1CB-A2E8C1B13B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5652" y="759159"/>
            <a:ext cx="4572000" cy="4043537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Highlights:</a:t>
            </a:r>
          </a:p>
          <a:p>
            <a:pPr>
              <a:lnSpc>
                <a:spcPct val="100000"/>
              </a:lnSpc>
            </a:pP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Trend Insights</a:t>
            </a:r>
          </a:p>
          <a:p>
            <a:pPr marL="331470" indent="-28575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monthly readmission trend shows fluctuations throughout the year, with some periods crossing the 85% threshold.</a:t>
            </a:r>
          </a:p>
          <a:p>
            <a:pPr>
              <a:lnSpc>
                <a:spcPct val="100000"/>
              </a:lnSpc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Revenue Insights</a:t>
            </a:r>
          </a:p>
          <a:p>
            <a:pPr>
              <a:lnSpc>
                <a:spcPct val="100000"/>
              </a:lnSpc>
            </a:pPr>
            <a:endParaRPr lang="en-US" b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BC87468-6163-03E4-AC12-1F598A35AE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6935" y="644316"/>
            <a:ext cx="5889203" cy="404353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083A3B1-8761-9CAB-C742-1B8ED26A877A}"/>
              </a:ext>
            </a:extLst>
          </p:cNvPr>
          <p:cNvSpPr txBox="1"/>
          <p:nvPr/>
        </p:nvSpPr>
        <p:spPr>
          <a:xfrm>
            <a:off x="1429783" y="1052736"/>
            <a:ext cx="3288432" cy="120032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marL="331470" indent="-285750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IN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Readmission Rate: 50.64%</a:t>
            </a:r>
          </a:p>
          <a:p>
            <a:pPr marL="331470" indent="-285750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IN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Revenue: 2.76 Billion</a:t>
            </a:r>
          </a:p>
          <a:p>
            <a:pPr marL="331470" indent="-285750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IN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Average Occupancy: 67.93%</a:t>
            </a:r>
          </a:p>
          <a:p>
            <a:pPr marL="331470" indent="-285750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IN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Claim Approval Rate: 43.14%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349AF28-8AA4-6C63-3D6E-E42B8230F1A1}"/>
              </a:ext>
            </a:extLst>
          </p:cNvPr>
          <p:cNvSpPr txBox="1"/>
          <p:nvPr/>
        </p:nvSpPr>
        <p:spPr>
          <a:xfrm>
            <a:off x="1340804" y="4202531"/>
            <a:ext cx="4572000" cy="120032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b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Pediatrics and Neurology are the top revenue-generating departments.</a:t>
            </a: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b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Cardiology generates comparatively lower revenue</a:t>
            </a: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EA76DDE0-AAF2-FCCE-A8BB-75816F48F9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4AE772F-76D7-A61B-FC1C-BD56EE9B7963}"/>
              </a:ext>
            </a:extLst>
          </p:cNvPr>
          <p:cNvSpPr txBox="1"/>
          <p:nvPr/>
        </p:nvSpPr>
        <p:spPr>
          <a:xfrm>
            <a:off x="6026935" y="4816051"/>
            <a:ext cx="6166756" cy="147732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Recommendation: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Strengthen discharge planning and post-discharge monitoring to reduce readmissions.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Monitor occupancy trends to avoid overcapacity-related risks.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62772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120B2-381D-7E86-C6E8-4EA6BB57F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AFBA8D3-5AD5-9D4A-2CBB-7F63166D1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2122" y="249117"/>
            <a:ext cx="6744816" cy="587152"/>
          </a:xfrm>
        </p:spPr>
        <p:txBody>
          <a:bodyPr/>
          <a:lstStyle/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Readmission Analytics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B041864-8162-C0EA-4560-FFE1B9745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318" y="249117"/>
            <a:ext cx="760412" cy="381000"/>
          </a:xfrm>
        </p:spPr>
        <p:txBody>
          <a:bodyPr/>
          <a:lstStyle/>
          <a:p>
            <a:fld id="{AAEAE4A8-A6E5-453E-B946-FB774B73F48C}" type="slidenum">
              <a:rPr lang="en-US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pPr/>
              <a:t>8</a:t>
            </a:fld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C91D9D5-7024-83D8-2F68-330C7BAF7A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5652" y="759159"/>
            <a:ext cx="4572000" cy="5849724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Department-Level Insights</a:t>
            </a:r>
          </a:p>
          <a:p>
            <a:pPr marL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b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Readmission rates are consistently high across departments (~50%).</a:t>
            </a:r>
          </a:p>
          <a:p>
            <a:pPr marL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Pediatrics and Neurology</a:t>
            </a:r>
            <a:r>
              <a:rPr lang="en-US" altLang="en-US" b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show slightly higher readmission rates compared to other departments</a:t>
            </a:r>
          </a:p>
          <a:p>
            <a:pPr marL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Length of Stay (LOS) Analysis</a:t>
            </a:r>
          </a:p>
          <a:p>
            <a:pPr marL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b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Readmissions are more common among patients with </a:t>
            </a:r>
            <a:r>
              <a:rPr lang="en-US" alt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longer LOS (around 15–20 days)</a:t>
            </a:r>
            <a:r>
              <a:rPr lang="en-US" altLang="en-US" b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b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Higher LOS may indicate severe conditions or complications.</a:t>
            </a: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Action: </a:t>
            </a:r>
            <a:r>
              <a:rPr lang="en-US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Focus on discharge readiness assessment for long-stay patients.</a:t>
            </a:r>
            <a:endParaRPr lang="en-US" altLang="en-US" b="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11183184-525F-D131-0E1F-CA230BE94D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30008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D662F3E-B363-09BA-79D1-98204BA71B88}"/>
              </a:ext>
            </a:extLst>
          </p:cNvPr>
          <p:cNvSpPr txBox="1"/>
          <p:nvPr/>
        </p:nvSpPr>
        <p:spPr>
          <a:xfrm>
            <a:off x="5887652" y="4313737"/>
            <a:ext cx="6166756" cy="209288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Age-Based Risk Analysis</a:t>
            </a:r>
          </a:p>
          <a:p>
            <a:endParaRPr lang="en-IN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66+ age group</a:t>
            </a:r>
            <a:r>
              <a:rPr lang="en-U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has the highest readmission count.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Younger age groups (0–17, 18–35) show comparatively lower readmission impact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Action: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 elderly care follow-up programs and home monitoring support.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0FEB2FB-3AF7-AF84-1742-D316AE0598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35779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FD799F4B-F194-3BAA-48F9-3C226C4677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35779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C9C8075-9D2D-C557-39DF-B95D369BC1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7652" y="759159"/>
            <a:ext cx="6137410" cy="3461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80466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2F5347-D055-25D5-A2D4-481D3ED1D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65DFE7B-FC23-64FF-4CB5-983589622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2122" y="249117"/>
            <a:ext cx="6744816" cy="587152"/>
          </a:xfrm>
        </p:spPr>
        <p:txBody>
          <a:bodyPr/>
          <a:lstStyle/>
          <a:p>
            <a:r>
              <a:rPr lang="en-IN" dirty="0"/>
              <a:t>Claims &amp; Leakage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6022206-D25D-F5DA-DF3F-137D8ED0D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318" y="249117"/>
            <a:ext cx="760412" cy="381000"/>
          </a:xfrm>
        </p:spPr>
        <p:txBody>
          <a:bodyPr/>
          <a:lstStyle/>
          <a:p>
            <a:fld id="{AAEAE4A8-A6E5-453E-B946-FB774B73F48C}" type="slidenum">
              <a:rPr lang="en-US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pPr/>
              <a:t>9</a:t>
            </a:fld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E770AD1-14E7-14E8-5C66-C6ED467F36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5652" y="759159"/>
            <a:ext cx="4572000" cy="5849724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1.Claim Status Overview</a:t>
            </a:r>
          </a:p>
          <a:p>
            <a:pPr marL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b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39% Approved Claims</a:t>
            </a:r>
          </a:p>
          <a:p>
            <a:pPr marL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b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38% Rejected Claims</a:t>
            </a:r>
          </a:p>
          <a:p>
            <a:pPr marL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b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18% Pending Claims</a:t>
            </a:r>
          </a:p>
          <a:p>
            <a:pPr marL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b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Small % marked as Unknown</a:t>
            </a: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Action:</a:t>
            </a:r>
            <a:r>
              <a:rPr lang="en-IN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Improve documentation accuracy</a:t>
            </a:r>
          </a:p>
          <a:p>
            <a:pPr marL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IN" b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2.Rejected Claim Amount by Payer</a:t>
            </a:r>
          </a:p>
          <a:p>
            <a:pPr marL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Self-pay patients</a:t>
            </a:r>
            <a:r>
              <a:rPr lang="en-US" altLang="en-US" b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show the highest rejected bill amount (~0.34bn)</a:t>
            </a:r>
          </a:p>
          <a:p>
            <a:pPr marL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b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Followed by </a:t>
            </a:r>
            <a:r>
              <a:rPr lang="en-US" alt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Private insurance (~0.32bn)</a:t>
            </a:r>
            <a:endParaRPr lang="en-US" altLang="en-US" b="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b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Government payers have slightly lower rejected amounts (~0.31bn)</a:t>
            </a: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Action: </a:t>
            </a:r>
            <a:r>
              <a:rPr lang="en-US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Enhance claim verification before submission</a:t>
            </a:r>
            <a:endParaRPr lang="en-US" altLang="en-US" b="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12724F7B-3B4D-28F1-214D-79716CB994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30008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FF2A522-2841-2302-878E-E0395D62BF29}"/>
              </a:ext>
            </a:extLst>
          </p:cNvPr>
          <p:cNvSpPr txBox="1"/>
          <p:nvPr/>
        </p:nvSpPr>
        <p:spPr>
          <a:xfrm>
            <a:off x="6026935" y="4816051"/>
            <a:ext cx="6166756" cy="150810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3.Average Settlement Days by Payer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Average settlement time across all payer types is ~24 days.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major variation among Government, Private, and Self.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Action: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Focus more on approval rate improvement rather than settlement speed.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7358D66-6661-1F1A-E417-E2D577454C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12" y="853916"/>
            <a:ext cx="5694509" cy="3271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8535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727AFB-D24A-5F57-316D-9B31C3A87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2825841-A57E-BCF8-210A-FEB75B0DC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2122" y="249117"/>
            <a:ext cx="6744816" cy="587152"/>
          </a:xfrm>
        </p:spPr>
        <p:txBody>
          <a:bodyPr/>
          <a:lstStyle/>
          <a:p>
            <a:r>
              <a:rPr lang="en-IN" dirty="0"/>
              <a:t>Claims &amp; Leakage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951F81B-B93E-A7FB-C7A0-6AC125F35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318" y="249117"/>
            <a:ext cx="760412" cy="381000"/>
          </a:xfrm>
        </p:spPr>
        <p:txBody>
          <a:bodyPr/>
          <a:lstStyle/>
          <a:p>
            <a:fld id="{AAEAE4A8-A6E5-453E-B946-FB774B73F48C}" type="slidenum">
              <a:rPr lang="en-US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pPr/>
              <a:t>10</a:t>
            </a:fld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56DF5B9-A073-159A-498A-DD6E85E287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5652" y="759159"/>
            <a:ext cx="4572000" cy="5849724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1.Key Operational KPIs</a:t>
            </a:r>
          </a:p>
          <a:p>
            <a:pPr marL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Average Occupancy Rate: 67.93%</a:t>
            </a:r>
            <a:br>
              <a:rPr lang="en-US" altLang="en-US" b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b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Indicates moderate bed utilization. </a:t>
            </a:r>
          </a:p>
          <a:p>
            <a:pPr marL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Average Staff Count: 144.66</a:t>
            </a:r>
            <a:br>
              <a:rPr lang="en-US" altLang="en-US" b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b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Staffing levels appear stable across the observed period.</a:t>
            </a:r>
          </a:p>
          <a:p>
            <a:pPr marL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Available Beds: 199K</a:t>
            </a:r>
            <a:br>
              <a:rPr lang="en-US" altLang="en-US" b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b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Reflects overall operational capacity.</a:t>
            </a:r>
          </a:p>
          <a:p>
            <a:pPr marL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IN" b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2.Occupancy Trend Analysis</a:t>
            </a:r>
          </a:p>
          <a:p>
            <a:pPr marL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b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Daily occupancy shows high variability.</a:t>
            </a:r>
          </a:p>
          <a:p>
            <a:pPr marL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b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Certain periods cross the </a:t>
            </a:r>
            <a:r>
              <a:rPr lang="en-US" alt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85% threshold</a:t>
            </a:r>
            <a:r>
              <a:rPr lang="en-US" altLang="en-US" b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indicating potential stress periods.</a:t>
            </a: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73E963E6-23BE-3246-AA45-8A77C1940E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30008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4053C96-219B-FC72-9355-FB40F89FE112}"/>
              </a:ext>
            </a:extLst>
          </p:cNvPr>
          <p:cNvSpPr txBox="1"/>
          <p:nvPr/>
        </p:nvSpPr>
        <p:spPr>
          <a:xfrm>
            <a:off x="1304801" y="4653136"/>
            <a:ext cx="4582851" cy="150810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3.Staffing vs Occupancy Trend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Staff count has gradually increased from 2023 to 2025.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Occupancy slightly declined in 2024 but improved again in 2025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1A8171F-5A43-54E0-9332-CD15019FDF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6935" y="860474"/>
            <a:ext cx="5701274" cy="321659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3CBF51A-F335-F675-E198-C26A23A5DB2C}"/>
              </a:ext>
            </a:extLst>
          </p:cNvPr>
          <p:cNvSpPr txBox="1"/>
          <p:nvPr/>
        </p:nvSpPr>
        <p:spPr>
          <a:xfrm>
            <a:off x="6094412" y="4437112"/>
            <a:ext cx="6336704" cy="150810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4.Overcapacity Monitoring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8 Overcapacity Days</a:t>
            </a:r>
            <a:r>
              <a:rPr lang="en-U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recorded.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These days may correlate with: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Increased readmission rates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Action</a:t>
            </a:r>
            <a:r>
              <a:rPr lang="en-U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Maintain buffer staffing during high-demand periods.</a:t>
            </a:r>
            <a:endParaRPr lang="en-US" alt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30115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84B81E-BFAC-C98C-3073-C416D8CF8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918CA-4868-EEC3-0048-6C9C05A84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539234"/>
          </a:xfrm>
        </p:spPr>
        <p:txBody>
          <a:bodyPr anchor="t">
            <a:normAutofit/>
          </a:bodyPr>
          <a:lstStyle/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Operational Insights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7FAA250-9928-4E88-A18F-322DB7F9C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/>
          <a:p>
            <a:fld id="{AAEAE4A8-A6E5-453E-B946-FB774B73F48C}" type="slidenum">
              <a:rPr lang="en-US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pPr/>
              <a:t>11</a:t>
            </a:fld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335C07-EB56-819A-360B-E738F005EF63}"/>
              </a:ext>
            </a:extLst>
          </p:cNvPr>
          <p:cNvSpPr txBox="1"/>
          <p:nvPr/>
        </p:nvSpPr>
        <p:spPr>
          <a:xfrm>
            <a:off x="1316632" y="980728"/>
            <a:ext cx="10682436" cy="507831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1.Departments with Highest Readmission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Analysis shows that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Pediatrics and Neurology departments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have the highest readmission rates compared to other departments.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Recommendation: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Strengthen follow-up care and discharge planning in high-risk departments.</a:t>
            </a: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Relationship Between LOS and Readmission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Patients with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longer Length of Stay (LOS)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tend to have a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higher probability of readmission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Insight: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Patients with LOS greater than average should be monitored more closely after discharge.</a:t>
            </a: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Overcapacity Days and Readmission Spikes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analysis identified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8 overcapacity days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where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occupied beds exceeded available beds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During these periods, hospitals may experience:</a:t>
            </a:r>
          </a:p>
          <a:p>
            <a:pPr lvl="1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Increased risk of early discharge or complications.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Conclusion: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Overcapacity situations can contribute to higher readmission rates</a:t>
            </a: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Recommendation: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Improve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bed capacity planning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Increase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staff allocation during peak demand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05254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25B4F7-4378-ECD5-84DC-CD03D3B3B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56573-8C9E-81E0-7E28-17D321935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539234"/>
          </a:xfrm>
        </p:spPr>
        <p:txBody>
          <a:bodyPr anchor="t">
            <a:normAutofit/>
          </a:bodyPr>
          <a:lstStyle/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Financial Insights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3FAA58-091C-4749-AD34-C3E672E36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/>
          <a:p>
            <a:fld id="{AAEAE4A8-A6E5-453E-B946-FB774B73F48C}" type="slidenum">
              <a:rPr lang="en-US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pPr/>
              <a:t>12</a:t>
            </a:fld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B4B77E-27AF-2641-1FB7-5B576AEB1978}"/>
              </a:ext>
            </a:extLst>
          </p:cNvPr>
          <p:cNvSpPr txBox="1"/>
          <p:nvPr/>
        </p:nvSpPr>
        <p:spPr>
          <a:xfrm>
            <a:off x="1316632" y="1148834"/>
            <a:ext cx="10682436" cy="424731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Revenue at Risk due to Rejected Claims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significant portion of hospital revenue is impacted by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rejected insurance claims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Rejected claims from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Self, Private, and Government insurance types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contribute to revenue leakage.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Impact: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Claim rejections delay hospital cash flow and reduce financial stability.</a:t>
            </a: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2.Settlement Cycle Analysis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average settlement time is approximately 24 days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across insurance providers.</a:t>
            </a: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Recommendation: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Improve claim documentation and follow-up processes to reduce settlement delays.</a:t>
            </a: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</a:t>
            </a: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 Revenue Generating Departments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Departments such as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Pediatrics, Neurology, and General Medicine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generate the highest revenue.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These departments handle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 patient volumes and complex treatments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Insight: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Investing in these departments can increase hospital profitability.</a:t>
            </a:r>
          </a:p>
        </p:txBody>
      </p:sp>
    </p:spTree>
    <p:extLst>
      <p:ext uri="{BB962C8B-B14F-4D97-AF65-F5344CB8AC3E}">
        <p14:creationId xmlns:p14="http://schemas.microsoft.com/office/powerpoint/2010/main" val="8480668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219E30-B737-AFA0-4F05-FAF9C3C2C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740C1-30CD-7327-9F24-79A806FE6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539234"/>
          </a:xfrm>
        </p:spPr>
        <p:txBody>
          <a:bodyPr anchor="t">
            <a:normAutofit/>
          </a:bodyPr>
          <a:lstStyle/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Risk Insights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F02B890-10F2-1EB2-5B11-14448C595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/>
          <a:p>
            <a:fld id="{AAEAE4A8-A6E5-453E-B946-FB774B73F48C}" type="slidenum">
              <a:rPr lang="en-US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pPr/>
              <a:t>13</a:t>
            </a:fld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D1BDD3-84A8-90B1-AA16-2B00A0E6AC4B}"/>
              </a:ext>
            </a:extLst>
          </p:cNvPr>
          <p:cNvSpPr txBox="1"/>
          <p:nvPr/>
        </p:nvSpPr>
        <p:spPr>
          <a:xfrm>
            <a:off x="1293812" y="1122011"/>
            <a:ext cx="10682436" cy="535531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Age Group with Highest Readmissions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66+ age band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has the highest readmission rate.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Elderly patients often have: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Chronic diseases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Multiple health complications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Higher recovery time.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Insight: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Elderly patients require stronger post-discharge monitoring.</a:t>
            </a: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2.High-Risk Patient Profile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Patients with the following characteristics show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higher readmission risk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Age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above 65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Long Length of Stay (LOS)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History of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previous admissions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Conclusion: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Early identification of high-risk patients can reduce readmission.</a:t>
            </a: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</a:t>
            </a: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Department Risk Patterns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Departments such as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Orthopedics and Oncology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show higher LOS and readmission.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Recommendation: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Introduce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special discharge protocols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high-risk departments.</a:t>
            </a:r>
          </a:p>
        </p:txBody>
      </p:sp>
    </p:spTree>
    <p:extLst>
      <p:ext uri="{BB962C8B-B14F-4D97-AF65-F5344CB8AC3E}">
        <p14:creationId xmlns:p14="http://schemas.microsoft.com/office/powerpoint/2010/main" val="12032243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56B7E-1633-44AB-8584-82DF5B726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515144"/>
          </a:xfrm>
        </p:spPr>
        <p:txBody>
          <a:bodyPr anchor="t"/>
          <a:lstStyle/>
          <a:p>
            <a:r>
              <a:rPr lang="en-IN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Final Recommendation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24FE9DD-2E30-5EFA-8B09-7AFDB29EF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/>
          <a:p>
            <a:fld id="{AAEAE4A8-A6E5-453E-B946-FB774B73F48C}" type="slidenum">
              <a:rPr lang="en-US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pPr/>
              <a:t>14</a:t>
            </a:fld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0677C9-3E42-427F-93B8-526692906471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293812" y="1782108"/>
            <a:ext cx="7176864" cy="4671228"/>
          </a:xfrm>
        </p:spPr>
        <p:txBody>
          <a:bodyPr vert="horz" lIns="91416" tIns="45708" rIns="91416" bIns="45708" rtlCol="0" anchor="t">
            <a:normAutofit/>
          </a:bodyPr>
          <a:lstStyle/>
          <a:p>
            <a:pPr marL="0"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Strengthen </a:t>
            </a:r>
            <a:r>
              <a:rPr lang="en-US" altLang="en-US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discharge planning</a:t>
            </a:r>
            <a:endParaRPr lang="en-US" altLang="en-US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 </a:t>
            </a:r>
            <a:r>
              <a:rPr lang="en-US" altLang="en-US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post-discharge follow-up programs</a:t>
            </a:r>
            <a:endParaRPr lang="en-US" altLang="en-US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Monitor </a:t>
            </a:r>
            <a:r>
              <a:rPr lang="en-US" altLang="en-US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high-risk patients</a:t>
            </a:r>
          </a:p>
          <a:p>
            <a:pPr marL="0"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Improve </a:t>
            </a: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claim submission quality</a:t>
            </a:r>
          </a:p>
          <a:p>
            <a:pPr marL="0"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Improve </a:t>
            </a:r>
            <a:r>
              <a:rPr lang="en-US" altLang="en-US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bed utilization planning</a:t>
            </a:r>
            <a:endParaRPr lang="en-US" altLang="en-US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Increase </a:t>
            </a:r>
            <a:r>
              <a:rPr lang="en-US" altLang="en-US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staff allocation during peak occupancy</a:t>
            </a:r>
            <a:endParaRPr lang="en-US" altLang="en-US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Monitor </a:t>
            </a:r>
            <a:r>
              <a:rPr lang="en-US" altLang="en-US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overcapacity days</a:t>
            </a:r>
            <a:endParaRPr lang="en-US" altLang="en-US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Monitor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KPIs such as Readmission Rate, Revenue, and Occupancy</a:t>
            </a:r>
            <a:endParaRPr lang="en-IN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9F5352-6ED7-0030-C36C-DD4DC24AD931}"/>
              </a:ext>
            </a:extLst>
          </p:cNvPr>
          <p:cNvSpPr txBox="1"/>
          <p:nvPr/>
        </p:nvSpPr>
        <p:spPr>
          <a:xfrm>
            <a:off x="1293812" y="1268760"/>
            <a:ext cx="7824936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Based on the analysis, the following improvements are recommended: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62621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457E9-A653-E1C2-AD02-DBEE8BAD2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515144"/>
          </a:xfrm>
        </p:spPr>
        <p:txBody>
          <a:bodyPr/>
          <a:lstStyle/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Summary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0A3D7F-91F1-B6EC-4EB6-C1DE7FAD7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 lang="en-US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pPr/>
              <a:t>15</a:t>
            </a:fld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95DA93-87D1-01B9-2A76-2EE88B0202C0}"/>
              </a:ext>
            </a:extLst>
          </p:cNvPr>
          <p:cNvSpPr txBox="1"/>
          <p:nvPr/>
        </p:nvSpPr>
        <p:spPr>
          <a:xfrm>
            <a:off x="1293812" y="1108990"/>
            <a:ext cx="9337104" cy="480131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Objective</a:t>
            </a:r>
          </a:p>
          <a:p>
            <a:pPr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analyze hospital performance using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healthcare data analytics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identify key drivers of readmission, revenue leakage, and operational inefficiencies.</a:t>
            </a:r>
          </a:p>
          <a:p>
            <a:pPr>
              <a:buNone/>
            </a:pP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Findings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50.64% readmission rate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indicates a potential operational concern.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Claim approval rate is 43.14%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showing significant financial leakage.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Average occupancy is 67.93%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with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8 overcapacity days identified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Elderly patients (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66+ age group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show the highest readmission risk.</a:t>
            </a: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Value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analytics solution helps hospital management to: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Identify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high-risk patients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Improve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claim approval efficiency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Optimize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bed and staff utilization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Monitor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revenue performance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1663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CBD935B-0031-5AB4-CAC1-13CF009777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1858" y="1916832"/>
            <a:ext cx="1305107" cy="302433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9FAE308-3076-43DB-B834-DA0B0AE19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6060" y="34415"/>
            <a:ext cx="4572000" cy="5867400"/>
          </a:xfrm>
        </p:spPr>
        <p:txBody>
          <a:bodyPr>
            <a:normAutofit/>
          </a:bodyPr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10368368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4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E1EAED"/>
      </a:accent6>
      <a:hlink>
        <a:srgbClr val="9454C3"/>
      </a:hlink>
      <a:folHlink>
        <a:srgbClr val="3EBBF0"/>
      </a:folHlink>
    </a:clrScheme>
    <a:fontScheme name="Custom 30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/>
        </a:defPPr>
      </a:lstStyle>
      <a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square" rtlCol="0" anchor="ctr" anchorCtr="1">
        <a:spAutoFit/>
      </a:bodyPr>
      <a:lstStyle>
        <a:defPPr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M03460663_win32_LW_V7.potx" id="{B4376E67-A46A-4922-AE0D-3354FC109E20}" vid="{F49CC2A7-BC98-4F28-8A83-D1D23E8024B9}"/>
    </a:ext>
  </a:extLst>
</a:theme>
</file>

<file path=ppt/theme/theme2.xml><?xml version="1.0" encoding="utf-8"?>
<a:theme xmlns:a="http://schemas.openxmlformats.org/drawingml/2006/main" name="Office Theme">
  <a:themeElements>
    <a:clrScheme name="Blue Red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lue Red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C37B52A-9EC8-4B7A-85C4-31F7EAFE403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F050606-E255-48B6-AE23-CE03A589EB22}">
  <ds:schemaRefs>
    <ds:schemaRef ds:uri="http://schemas.microsoft.com/office/infopath/2007/PartnerControls"/>
    <ds:schemaRef ds:uri="http://schemas.microsoft.com/office/2006/metadata/properties"/>
    <ds:schemaRef ds:uri="http://purl.org/dc/dcmitype/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230e9df3-be65-4c73-a93b-d1236ebd677e"/>
    <ds:schemaRef ds:uri="16c05727-aa75-4e4a-9b5f-8a80a1165891"/>
    <ds:schemaRef ds:uri="http://schemas.microsoft.com/sharepoint/v3"/>
    <ds:schemaRef ds:uri="71af3243-3dd4-4a8d-8c0d-dd76da1f02a5"/>
    <ds:schemaRef ds:uri="http://www.w3.org/XML/1998/namespac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20C06458-EC9A-428C-9123-A760B9587A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Business strategy slides</Template>
  <TotalTime>1152</TotalTime>
  <Words>1165</Words>
  <Application>Microsoft Office PowerPoint</Application>
  <PresentationFormat>Custom</PresentationFormat>
  <Paragraphs>197</Paragraphs>
  <Slides>16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Calibri</vt:lpstr>
      <vt:lpstr>Century Gothic</vt:lpstr>
      <vt:lpstr>Courier New</vt:lpstr>
      <vt:lpstr>Palatino Linotype</vt:lpstr>
      <vt:lpstr>Wingdings</vt:lpstr>
      <vt:lpstr>Custom</vt:lpstr>
      <vt:lpstr>Hospital Performance &amp; Readmission Analytics System</vt:lpstr>
      <vt:lpstr>Dataset Overview</vt:lpstr>
      <vt:lpstr>Business Objectives</vt:lpstr>
      <vt:lpstr>Data Cleaning Approach (Excel)</vt:lpstr>
      <vt:lpstr>Null Handling Strategy</vt:lpstr>
      <vt:lpstr>MySQL Implementation</vt:lpstr>
      <vt:lpstr>Executive Dashboard Overview</vt:lpstr>
      <vt:lpstr>Readmission Analytics</vt:lpstr>
      <vt:lpstr>Claims &amp; Leakage</vt:lpstr>
      <vt:lpstr>Claims &amp; Leakage</vt:lpstr>
      <vt:lpstr>Operational Insights</vt:lpstr>
      <vt:lpstr>Financial Insights</vt:lpstr>
      <vt:lpstr>Risk Insights</vt:lpstr>
      <vt:lpstr>Final Recommendation</vt:lpstr>
      <vt:lpstr>Summary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Nishanth S L</dc:creator>
  <cp:lastModifiedBy>Nishanth S L</cp:lastModifiedBy>
  <cp:revision>32</cp:revision>
  <dcterms:created xsi:type="dcterms:W3CDTF">2026-03-05T06:41:56Z</dcterms:created>
  <dcterms:modified xsi:type="dcterms:W3CDTF">2026-03-10T14:11:05Z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Order">
    <vt:r8>74069400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  <property fmtid="{D5CDD505-2E9C-101B-9397-08002B2CF9AE}" pid="12" name="MediaServiceImageTags">
    <vt:lpwstr/>
  </property>
</Properties>
</file>