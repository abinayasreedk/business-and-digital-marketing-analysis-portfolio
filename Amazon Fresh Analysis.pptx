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25" r:id="rId5"/>
    <p:sldId id="326" r:id="rId6"/>
    <p:sldId id="264" r:id="rId7"/>
    <p:sldId id="265" r:id="rId8"/>
    <p:sldId id="341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1" r:id="rId18"/>
    <p:sldId id="352" r:id="rId19"/>
    <p:sldId id="353" r:id="rId20"/>
    <p:sldId id="34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240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27F3453-A592-43D3-AFD2-DAECCB1F095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1D59982-76B8-44E7-AE0D-62D09FCC69FF}">
      <dgm:prSet phldrT="[Text]"/>
      <dgm:spPr/>
      <dgm:t>
        <a:bodyPr/>
        <a:lstStyle/>
        <a:p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Categories (</a:t>
          </a:r>
          <a:r>
            <a:rPr lang="en-IN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CategoryID</a:t>
          </a:r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en-IN" dirty="0"/>
        </a:p>
      </dgm:t>
    </dgm:pt>
    <dgm:pt modelId="{8E2DC018-2B72-44DA-AB25-72D89CD38005}" type="parTrans" cxnId="{535BE84F-E6B5-480F-B1CA-2FEA89585A0C}">
      <dgm:prSet/>
      <dgm:spPr/>
      <dgm:t>
        <a:bodyPr/>
        <a:lstStyle/>
        <a:p>
          <a:endParaRPr lang="en-IN"/>
        </a:p>
      </dgm:t>
    </dgm:pt>
    <dgm:pt modelId="{3B3B6934-B79E-41D1-8B0C-D64DD25D3A2A}" type="sibTrans" cxnId="{535BE84F-E6B5-480F-B1CA-2FEA89585A0C}">
      <dgm:prSet/>
      <dgm:spPr/>
      <dgm:t>
        <a:bodyPr/>
        <a:lstStyle/>
        <a:p>
          <a:endParaRPr lang="en-IN"/>
        </a:p>
      </dgm:t>
    </dgm:pt>
    <dgm:pt modelId="{79958659-3292-4E84-A77C-1B1FA4ABCCD0}">
      <dgm:prSet phldrT="[Text]"/>
      <dgm:spPr/>
      <dgm:t>
        <a:bodyPr/>
        <a:lstStyle/>
        <a:p>
          <a:r>
            <a:rPr lang="en-IN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SubCategories</a:t>
          </a:r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</a:t>
          </a:r>
          <a:r>
            <a:rPr lang="en-IN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CategoryID</a:t>
          </a:r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en-IN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SubCategoryID</a:t>
          </a:r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en-IN" dirty="0"/>
        </a:p>
      </dgm:t>
    </dgm:pt>
    <dgm:pt modelId="{B2D2ED87-F3B3-4C4C-BE33-37E9F6ACC5D6}" type="parTrans" cxnId="{24AAF7EA-D6E9-4D49-9D55-AE7F3C404A35}">
      <dgm:prSet/>
      <dgm:spPr/>
      <dgm:t>
        <a:bodyPr/>
        <a:lstStyle/>
        <a:p>
          <a:endParaRPr lang="en-IN"/>
        </a:p>
      </dgm:t>
    </dgm:pt>
    <dgm:pt modelId="{C6FBEC82-111E-4269-8C8D-757082F4C348}" type="sibTrans" cxnId="{24AAF7EA-D6E9-4D49-9D55-AE7F3C404A35}">
      <dgm:prSet/>
      <dgm:spPr/>
      <dgm:t>
        <a:bodyPr/>
        <a:lstStyle/>
        <a:p>
          <a:endParaRPr lang="en-IN"/>
        </a:p>
      </dgm:t>
    </dgm:pt>
    <dgm:pt modelId="{5EAE17CB-452E-426E-8908-2EB0628BB923}">
      <dgm:prSet phldrT="[Text]"/>
      <dgm:spPr/>
      <dgm:t>
        <a:bodyPr/>
        <a:lstStyle/>
        <a:p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Products (</a:t>
          </a:r>
          <a:r>
            <a:rPr lang="en-IN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SubCategoryID</a:t>
          </a:r>
          <a:r>
            <a: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en-IN" dirty="0"/>
        </a:p>
      </dgm:t>
    </dgm:pt>
    <dgm:pt modelId="{AA75A335-E8D5-4FF3-AAD1-DBB562B6C4F0}" type="parTrans" cxnId="{17007B38-BF8D-4E67-ADA5-3006F35EB837}">
      <dgm:prSet/>
      <dgm:spPr/>
      <dgm:t>
        <a:bodyPr/>
        <a:lstStyle/>
        <a:p>
          <a:endParaRPr lang="en-IN"/>
        </a:p>
      </dgm:t>
    </dgm:pt>
    <dgm:pt modelId="{598B9EBE-58FB-42F5-AA44-A8B727EC46D2}" type="sibTrans" cxnId="{17007B38-BF8D-4E67-ADA5-3006F35EB837}">
      <dgm:prSet/>
      <dgm:spPr/>
      <dgm:t>
        <a:bodyPr/>
        <a:lstStyle/>
        <a:p>
          <a:endParaRPr lang="en-IN"/>
        </a:p>
      </dgm:t>
    </dgm:pt>
    <dgm:pt modelId="{E64A126F-0FC3-4FD7-89A7-42CC0257DE04}" type="pres">
      <dgm:prSet presAssocID="{F27F3453-A592-43D3-AFD2-DAECCB1F0950}" presName="outerComposite" presStyleCnt="0">
        <dgm:presLayoutVars>
          <dgm:chMax val="5"/>
          <dgm:dir/>
          <dgm:resizeHandles val="exact"/>
        </dgm:presLayoutVars>
      </dgm:prSet>
      <dgm:spPr/>
    </dgm:pt>
    <dgm:pt modelId="{2C41CC20-F314-4260-9BDF-CF96C20BBF60}" type="pres">
      <dgm:prSet presAssocID="{F27F3453-A592-43D3-AFD2-DAECCB1F0950}" presName="dummyMaxCanvas" presStyleCnt="0">
        <dgm:presLayoutVars/>
      </dgm:prSet>
      <dgm:spPr/>
    </dgm:pt>
    <dgm:pt modelId="{9841EDC6-0BD2-45F7-86AF-67F6AF3ABA05}" type="pres">
      <dgm:prSet presAssocID="{F27F3453-A592-43D3-AFD2-DAECCB1F0950}" presName="ThreeNodes_1" presStyleLbl="node1" presStyleIdx="0" presStyleCnt="3">
        <dgm:presLayoutVars>
          <dgm:bulletEnabled val="1"/>
        </dgm:presLayoutVars>
      </dgm:prSet>
      <dgm:spPr/>
    </dgm:pt>
    <dgm:pt modelId="{11A59BF2-F317-43BC-99B1-8D7FB5EB2B78}" type="pres">
      <dgm:prSet presAssocID="{F27F3453-A592-43D3-AFD2-DAECCB1F0950}" presName="ThreeNodes_2" presStyleLbl="node1" presStyleIdx="1" presStyleCnt="3">
        <dgm:presLayoutVars>
          <dgm:bulletEnabled val="1"/>
        </dgm:presLayoutVars>
      </dgm:prSet>
      <dgm:spPr/>
    </dgm:pt>
    <dgm:pt modelId="{CA99C83A-4949-4D79-948B-FE856291E9CF}" type="pres">
      <dgm:prSet presAssocID="{F27F3453-A592-43D3-AFD2-DAECCB1F0950}" presName="ThreeNodes_3" presStyleLbl="node1" presStyleIdx="2" presStyleCnt="3">
        <dgm:presLayoutVars>
          <dgm:bulletEnabled val="1"/>
        </dgm:presLayoutVars>
      </dgm:prSet>
      <dgm:spPr/>
    </dgm:pt>
    <dgm:pt modelId="{5BF85838-0AFF-4F23-9F3A-B401B97A22A9}" type="pres">
      <dgm:prSet presAssocID="{F27F3453-A592-43D3-AFD2-DAECCB1F0950}" presName="ThreeConn_1-2" presStyleLbl="fgAccFollowNode1" presStyleIdx="0" presStyleCnt="2">
        <dgm:presLayoutVars>
          <dgm:bulletEnabled val="1"/>
        </dgm:presLayoutVars>
      </dgm:prSet>
      <dgm:spPr/>
    </dgm:pt>
    <dgm:pt modelId="{2830314E-164C-453B-8197-C97FE5504E1C}" type="pres">
      <dgm:prSet presAssocID="{F27F3453-A592-43D3-AFD2-DAECCB1F0950}" presName="ThreeConn_2-3" presStyleLbl="fgAccFollowNode1" presStyleIdx="1" presStyleCnt="2">
        <dgm:presLayoutVars>
          <dgm:bulletEnabled val="1"/>
        </dgm:presLayoutVars>
      </dgm:prSet>
      <dgm:spPr/>
    </dgm:pt>
    <dgm:pt modelId="{D7472702-550D-4B7F-A587-B4946CC5E366}" type="pres">
      <dgm:prSet presAssocID="{F27F3453-A592-43D3-AFD2-DAECCB1F0950}" presName="ThreeNodes_1_text" presStyleLbl="node1" presStyleIdx="2" presStyleCnt="3">
        <dgm:presLayoutVars>
          <dgm:bulletEnabled val="1"/>
        </dgm:presLayoutVars>
      </dgm:prSet>
      <dgm:spPr/>
    </dgm:pt>
    <dgm:pt modelId="{267AAA73-F5AC-4BE9-B877-BAD97C99518A}" type="pres">
      <dgm:prSet presAssocID="{F27F3453-A592-43D3-AFD2-DAECCB1F0950}" presName="ThreeNodes_2_text" presStyleLbl="node1" presStyleIdx="2" presStyleCnt="3">
        <dgm:presLayoutVars>
          <dgm:bulletEnabled val="1"/>
        </dgm:presLayoutVars>
      </dgm:prSet>
      <dgm:spPr/>
    </dgm:pt>
    <dgm:pt modelId="{60732E0B-ABDE-4F1E-AC77-69C93BCE0469}" type="pres">
      <dgm:prSet presAssocID="{F27F3453-A592-43D3-AFD2-DAECCB1F095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E29AE07-A938-4006-AEA9-BC81B738D3D0}" type="presOf" srcId="{79958659-3292-4E84-A77C-1B1FA4ABCCD0}" destId="{267AAA73-F5AC-4BE9-B877-BAD97C99518A}" srcOrd="1" destOrd="0" presId="urn:microsoft.com/office/officeart/2005/8/layout/vProcess5"/>
    <dgm:cxn modelId="{17007B38-BF8D-4E67-ADA5-3006F35EB837}" srcId="{F27F3453-A592-43D3-AFD2-DAECCB1F0950}" destId="{5EAE17CB-452E-426E-8908-2EB0628BB923}" srcOrd="2" destOrd="0" parTransId="{AA75A335-E8D5-4FF3-AAD1-DBB562B6C4F0}" sibTransId="{598B9EBE-58FB-42F5-AA44-A8B727EC46D2}"/>
    <dgm:cxn modelId="{F9C06F46-2350-4C31-A602-496EC31DB53B}" type="presOf" srcId="{81D59982-76B8-44E7-AE0D-62D09FCC69FF}" destId="{9841EDC6-0BD2-45F7-86AF-67F6AF3ABA05}" srcOrd="0" destOrd="0" presId="urn:microsoft.com/office/officeart/2005/8/layout/vProcess5"/>
    <dgm:cxn modelId="{0249D54A-254B-4E45-A70D-7BDF6BA5C598}" type="presOf" srcId="{81D59982-76B8-44E7-AE0D-62D09FCC69FF}" destId="{D7472702-550D-4B7F-A587-B4946CC5E366}" srcOrd="1" destOrd="0" presId="urn:microsoft.com/office/officeart/2005/8/layout/vProcess5"/>
    <dgm:cxn modelId="{535BE84F-E6B5-480F-B1CA-2FEA89585A0C}" srcId="{F27F3453-A592-43D3-AFD2-DAECCB1F0950}" destId="{81D59982-76B8-44E7-AE0D-62D09FCC69FF}" srcOrd="0" destOrd="0" parTransId="{8E2DC018-2B72-44DA-AB25-72D89CD38005}" sibTransId="{3B3B6934-B79E-41D1-8B0C-D64DD25D3A2A}"/>
    <dgm:cxn modelId="{A122788C-0288-4EF0-9C76-3D14C3FB73B0}" type="presOf" srcId="{3B3B6934-B79E-41D1-8B0C-D64DD25D3A2A}" destId="{5BF85838-0AFF-4F23-9F3A-B401B97A22A9}" srcOrd="0" destOrd="0" presId="urn:microsoft.com/office/officeart/2005/8/layout/vProcess5"/>
    <dgm:cxn modelId="{B400A08C-353F-4B0B-A4D4-4F40A99EECC0}" type="presOf" srcId="{5EAE17CB-452E-426E-8908-2EB0628BB923}" destId="{CA99C83A-4949-4D79-948B-FE856291E9CF}" srcOrd="0" destOrd="0" presId="urn:microsoft.com/office/officeart/2005/8/layout/vProcess5"/>
    <dgm:cxn modelId="{329E9693-3BBB-4DFB-8DE7-5C84D35E87DA}" type="presOf" srcId="{79958659-3292-4E84-A77C-1B1FA4ABCCD0}" destId="{11A59BF2-F317-43BC-99B1-8D7FB5EB2B78}" srcOrd="0" destOrd="0" presId="urn:microsoft.com/office/officeart/2005/8/layout/vProcess5"/>
    <dgm:cxn modelId="{F8ED3FB8-B655-45B1-8FA7-25509BD1544D}" type="presOf" srcId="{C6FBEC82-111E-4269-8C8D-757082F4C348}" destId="{2830314E-164C-453B-8197-C97FE5504E1C}" srcOrd="0" destOrd="0" presId="urn:microsoft.com/office/officeart/2005/8/layout/vProcess5"/>
    <dgm:cxn modelId="{272B57E8-0676-456B-AD98-D3EA7F5D6BA9}" type="presOf" srcId="{5EAE17CB-452E-426E-8908-2EB0628BB923}" destId="{60732E0B-ABDE-4F1E-AC77-69C93BCE0469}" srcOrd="1" destOrd="0" presId="urn:microsoft.com/office/officeart/2005/8/layout/vProcess5"/>
    <dgm:cxn modelId="{24AAF7EA-D6E9-4D49-9D55-AE7F3C404A35}" srcId="{F27F3453-A592-43D3-AFD2-DAECCB1F0950}" destId="{79958659-3292-4E84-A77C-1B1FA4ABCCD0}" srcOrd="1" destOrd="0" parTransId="{B2D2ED87-F3B3-4C4C-BE33-37E9F6ACC5D6}" sibTransId="{C6FBEC82-111E-4269-8C8D-757082F4C348}"/>
    <dgm:cxn modelId="{542394F0-3287-4CB6-BCE6-5839288B04BF}" type="presOf" srcId="{F27F3453-A592-43D3-AFD2-DAECCB1F0950}" destId="{E64A126F-0FC3-4FD7-89A7-42CC0257DE04}" srcOrd="0" destOrd="0" presId="urn:microsoft.com/office/officeart/2005/8/layout/vProcess5"/>
    <dgm:cxn modelId="{410FC866-6F3C-402D-8AFC-90EF73050397}" type="presParOf" srcId="{E64A126F-0FC3-4FD7-89A7-42CC0257DE04}" destId="{2C41CC20-F314-4260-9BDF-CF96C20BBF60}" srcOrd="0" destOrd="0" presId="urn:microsoft.com/office/officeart/2005/8/layout/vProcess5"/>
    <dgm:cxn modelId="{875C4C9C-9C46-48F9-885A-19255ADF89B9}" type="presParOf" srcId="{E64A126F-0FC3-4FD7-89A7-42CC0257DE04}" destId="{9841EDC6-0BD2-45F7-86AF-67F6AF3ABA05}" srcOrd="1" destOrd="0" presId="urn:microsoft.com/office/officeart/2005/8/layout/vProcess5"/>
    <dgm:cxn modelId="{92F73937-39F3-42E8-8476-916618DC837A}" type="presParOf" srcId="{E64A126F-0FC3-4FD7-89A7-42CC0257DE04}" destId="{11A59BF2-F317-43BC-99B1-8D7FB5EB2B78}" srcOrd="2" destOrd="0" presId="urn:microsoft.com/office/officeart/2005/8/layout/vProcess5"/>
    <dgm:cxn modelId="{5A374CA1-20CC-46E3-BAEB-11AC2630E1CE}" type="presParOf" srcId="{E64A126F-0FC3-4FD7-89A7-42CC0257DE04}" destId="{CA99C83A-4949-4D79-948B-FE856291E9CF}" srcOrd="3" destOrd="0" presId="urn:microsoft.com/office/officeart/2005/8/layout/vProcess5"/>
    <dgm:cxn modelId="{5F384D61-25FE-4244-94DF-A1E66695E721}" type="presParOf" srcId="{E64A126F-0FC3-4FD7-89A7-42CC0257DE04}" destId="{5BF85838-0AFF-4F23-9F3A-B401B97A22A9}" srcOrd="4" destOrd="0" presId="urn:microsoft.com/office/officeart/2005/8/layout/vProcess5"/>
    <dgm:cxn modelId="{2968F57F-B03E-477F-9326-0A263E620DBE}" type="presParOf" srcId="{E64A126F-0FC3-4FD7-89A7-42CC0257DE04}" destId="{2830314E-164C-453B-8197-C97FE5504E1C}" srcOrd="5" destOrd="0" presId="urn:microsoft.com/office/officeart/2005/8/layout/vProcess5"/>
    <dgm:cxn modelId="{FCB88E7A-82F6-487D-B069-A9E06DC642AA}" type="presParOf" srcId="{E64A126F-0FC3-4FD7-89A7-42CC0257DE04}" destId="{D7472702-550D-4B7F-A587-B4946CC5E366}" srcOrd="6" destOrd="0" presId="urn:microsoft.com/office/officeart/2005/8/layout/vProcess5"/>
    <dgm:cxn modelId="{EE5C9B7E-9635-4768-B92B-3441045F0BD1}" type="presParOf" srcId="{E64A126F-0FC3-4FD7-89A7-42CC0257DE04}" destId="{267AAA73-F5AC-4BE9-B877-BAD97C99518A}" srcOrd="7" destOrd="0" presId="urn:microsoft.com/office/officeart/2005/8/layout/vProcess5"/>
    <dgm:cxn modelId="{1D496C4F-EED4-4DE0-9D9F-F19657EB8630}" type="presParOf" srcId="{E64A126F-0FC3-4FD7-89A7-42CC0257DE04}" destId="{60732E0B-ABDE-4F1E-AC77-69C93BCE046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1EDC6-0BD2-45F7-86AF-67F6AF3ABA05}">
      <dsp:nvSpPr>
        <dsp:cNvPr id="0" name=""/>
        <dsp:cNvSpPr/>
      </dsp:nvSpPr>
      <dsp:spPr>
        <a:xfrm>
          <a:off x="0" y="0"/>
          <a:ext cx="4246372" cy="595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Categories (</a:t>
          </a:r>
          <a:r>
            <a:rPr lang="en-IN" sz="15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CategoryID</a:t>
          </a:r>
          <a:r>
            <a:rPr lang="en-IN" sz="15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en-IN" sz="1500" kern="1200" dirty="0"/>
        </a:p>
      </dsp:txBody>
      <dsp:txXfrm>
        <a:off x="17439" y="17439"/>
        <a:ext cx="3603885" cy="560525"/>
      </dsp:txXfrm>
    </dsp:sp>
    <dsp:sp modelId="{11A59BF2-F317-43BC-99B1-8D7FB5EB2B78}">
      <dsp:nvSpPr>
        <dsp:cNvPr id="0" name=""/>
        <dsp:cNvSpPr/>
      </dsp:nvSpPr>
      <dsp:spPr>
        <a:xfrm>
          <a:off x="374679" y="694637"/>
          <a:ext cx="4246372" cy="595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SubCategories</a:t>
          </a:r>
          <a:r>
            <a:rPr lang="en-IN" sz="15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(</a:t>
          </a:r>
          <a:r>
            <a:rPr lang="en-IN" sz="15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CategoryID</a:t>
          </a:r>
          <a:r>
            <a:rPr lang="en-IN" sz="15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</a:t>
          </a:r>
          <a:r>
            <a:rPr lang="en-IN" sz="15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SubCategoryID</a:t>
          </a:r>
          <a:r>
            <a:rPr lang="en-IN" sz="15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en-IN" sz="1500" kern="1200" dirty="0"/>
        </a:p>
      </dsp:txBody>
      <dsp:txXfrm>
        <a:off x="392118" y="712076"/>
        <a:ext cx="3449802" cy="560525"/>
      </dsp:txXfrm>
    </dsp:sp>
    <dsp:sp modelId="{CA99C83A-4949-4D79-948B-FE856291E9CF}">
      <dsp:nvSpPr>
        <dsp:cNvPr id="0" name=""/>
        <dsp:cNvSpPr/>
      </dsp:nvSpPr>
      <dsp:spPr>
        <a:xfrm>
          <a:off x="749359" y="1389274"/>
          <a:ext cx="4246372" cy="5954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Products (</a:t>
          </a:r>
          <a:r>
            <a:rPr lang="en-IN" sz="15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SubCategoryID</a:t>
          </a:r>
          <a:r>
            <a:rPr lang="en-IN" sz="15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)</a:t>
          </a:r>
          <a:endParaRPr lang="en-IN" sz="1500" kern="1200" dirty="0"/>
        </a:p>
      </dsp:txBody>
      <dsp:txXfrm>
        <a:off x="766798" y="1406713"/>
        <a:ext cx="3449802" cy="560525"/>
      </dsp:txXfrm>
    </dsp:sp>
    <dsp:sp modelId="{5BF85838-0AFF-4F23-9F3A-B401B97A22A9}">
      <dsp:nvSpPr>
        <dsp:cNvPr id="0" name=""/>
        <dsp:cNvSpPr/>
      </dsp:nvSpPr>
      <dsp:spPr>
        <a:xfrm>
          <a:off x="3859359" y="451514"/>
          <a:ext cx="387012" cy="3870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3946437" y="451514"/>
        <a:ext cx="212856" cy="291227"/>
      </dsp:txXfrm>
    </dsp:sp>
    <dsp:sp modelId="{2830314E-164C-453B-8197-C97FE5504E1C}">
      <dsp:nvSpPr>
        <dsp:cNvPr id="0" name=""/>
        <dsp:cNvSpPr/>
      </dsp:nvSpPr>
      <dsp:spPr>
        <a:xfrm>
          <a:off x="4234039" y="1142182"/>
          <a:ext cx="387012" cy="3870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4321117" y="1142182"/>
        <a:ext cx="212856" cy="2912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unitaflex.it/2025/12/DhnuNzXVsp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7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8.png"/><Relationship Id="rId9" Type="http://schemas.microsoft.com/office/2007/relationships/diagramDrawing" Target="../diagrams/drawin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Fresh Analytics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6BDFF-E948-2492-6B95-C0535F3944E1}"/>
              </a:ext>
            </a:extLst>
          </p:cNvPr>
          <p:cNvSpPr txBox="1"/>
          <p:nvPr/>
        </p:nvSpPr>
        <p:spPr>
          <a:xfrm>
            <a:off x="4093029" y="5900448"/>
            <a:ext cx="4343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Solving Using Data Modeling &amp; SQL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496669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1593F-856D-5800-CF9B-B67D9AB67751}"/>
              </a:ext>
            </a:extLst>
          </p:cNvPr>
          <p:cNvSpPr txBox="1"/>
          <p:nvPr/>
        </p:nvSpPr>
        <p:spPr>
          <a:xfrm>
            <a:off x="794658" y="1866092"/>
            <a:ext cx="46003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Fresh manages large volumes of data such as customers, products, suppliers, orders, and reviews.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challenge is to design a relational database that supports efficient storage, analysis, and decision-making to improve operations, customer satisfaction, and revenue.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E402B8-E98B-85F0-51EF-8875D4724E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98454" y="1389888"/>
            <a:ext cx="5897881" cy="398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45179" y="1824705"/>
            <a:ext cx="4794421" cy="4401924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One-to-Many Relationships (1:N)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→ Orders (one customer can place many orders)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Supplier → Products (one supplier can supply many products)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→ Reviews (one product can have many reviews)</a:t>
            </a:r>
          </a:p>
          <a:p>
            <a:pPr marL="0" indent="0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Many-to-Many Relationships (Resolved via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Order_Details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 ↔ Products (an order can have many products; a product can be in many orders)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59547-16A0-4383-B1A1-56A948AC6EA4}"/>
              </a:ext>
            </a:extLst>
          </p:cNvPr>
          <p:cNvSpPr txBox="1"/>
          <p:nvPr/>
        </p:nvSpPr>
        <p:spPr>
          <a:xfrm>
            <a:off x="1280160" y="1023257"/>
            <a:ext cx="938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 an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 diagram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the Amazon Fresh database to understand the relationships between tables (e.g., Customers, Products, Orders).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42BE63-8D17-2D68-9DE6-404876514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86" y="1824705"/>
            <a:ext cx="6721023" cy="417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3A924CA-E603-7FD0-E3F7-A3ACD6520D29}"/>
              </a:ext>
            </a:extLst>
          </p:cNvPr>
          <p:cNvSpPr txBox="1">
            <a:spLocks/>
          </p:cNvSpPr>
          <p:nvPr/>
        </p:nvSpPr>
        <p:spPr>
          <a:xfrm>
            <a:off x="5974080" y="1501985"/>
            <a:ext cx="5110436" cy="47096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 for Foreign Key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228DE-3D3A-74DB-A3D1-3AABF38DB7D3}"/>
              </a:ext>
            </a:extLst>
          </p:cNvPr>
          <p:cNvSpPr txBox="1"/>
          <p:nvPr/>
        </p:nvSpPr>
        <p:spPr>
          <a:xfrm>
            <a:off x="957940" y="1023257"/>
            <a:ext cx="1145177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2: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 the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 keys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each table and describe their relationships.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0DCA69-33AA-E0B4-3CA1-6ECE49E1F6A4}"/>
              </a:ext>
            </a:extLst>
          </p:cNvPr>
          <p:cNvSpPr txBox="1"/>
          <p:nvPr/>
        </p:nvSpPr>
        <p:spPr>
          <a:xfrm>
            <a:off x="430722" y="6211669"/>
            <a:ext cx="10653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syntax defines primary and foreign key constraints to uniquely identify records and enforce proper relationships between all tables in the database.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11202A1-60AE-BA24-E0D7-AB6A7D1FE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0722" y="1501985"/>
            <a:ext cx="4794421" cy="4709684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 for Primary Key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BDF2FC4-97ED-D9C5-CCB9-11DD4DACA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329"/>
          <a:stretch>
            <a:fillRect/>
          </a:stretch>
        </p:blipFill>
        <p:spPr>
          <a:xfrm>
            <a:off x="5856526" y="2231571"/>
            <a:ext cx="5110436" cy="35346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E6D2E6-2B3C-9213-D791-DA49B4F73D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527"/>
          <a:stretch>
            <a:fillRect/>
          </a:stretch>
        </p:blipFill>
        <p:spPr>
          <a:xfrm>
            <a:off x="581556" y="2231571"/>
            <a:ext cx="4408743" cy="360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1ADC-ED88-AF33-CD03-08D068FA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0B76134-B69D-665A-E4BF-88443A3B930B}"/>
              </a:ext>
            </a:extLst>
          </p:cNvPr>
          <p:cNvSpPr txBox="1"/>
          <p:nvPr/>
        </p:nvSpPr>
        <p:spPr>
          <a:xfrm>
            <a:off x="1183684" y="937965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3: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a query 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23113-9D86-174B-D8AD-6970527253DF}"/>
              </a:ext>
            </a:extLst>
          </p:cNvPr>
          <p:cNvSpPr txBox="1"/>
          <p:nvPr/>
        </p:nvSpPr>
        <p:spPr>
          <a:xfrm>
            <a:off x="992030" y="3933124"/>
            <a:ext cx="104706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queries use the WHERE clause to filter records and retrieve specific data based on city and product category.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AA962-F5C5-5083-27B1-A79FE00F6AC1}"/>
              </a:ext>
            </a:extLst>
          </p:cNvPr>
          <p:cNvSpPr txBox="1"/>
          <p:nvPr/>
        </p:nvSpPr>
        <p:spPr>
          <a:xfrm>
            <a:off x="1107484" y="1805574"/>
            <a:ext cx="42700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Retrieve all customers from a specific city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* FROM Customers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city = '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Patelberg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78D84-1FA1-22BB-FB79-010B4691918F}"/>
              </a:ext>
            </a:extLst>
          </p:cNvPr>
          <p:cNvSpPr txBox="1"/>
          <p:nvPr/>
        </p:nvSpPr>
        <p:spPr>
          <a:xfrm>
            <a:off x="1107484" y="2748831"/>
            <a:ext cx="46728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Fetch all products under the "Fruits" category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 * FROM Products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category = 'Fruits';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6D158-8489-2C7F-AC4C-EAFD09EF69E0}"/>
              </a:ext>
            </a:extLst>
          </p:cNvPr>
          <p:cNvSpPr txBox="1"/>
          <p:nvPr/>
        </p:nvSpPr>
        <p:spPr>
          <a:xfrm>
            <a:off x="1035572" y="4633725"/>
            <a:ext cx="10557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Fresh can use the city-based query to target customers in a specific location and the category-based query to manage fruit stock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queries help in targeted analysis, improve performance by reducing data load, and support better business decisions.”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490CC05-3A0F-010B-FE16-CBA9A8C7AC3D}"/>
              </a:ext>
            </a:extLst>
          </p:cNvPr>
          <p:cNvSpPr/>
          <p:nvPr/>
        </p:nvSpPr>
        <p:spPr>
          <a:xfrm>
            <a:off x="6324600" y="2188029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BA8440D-F4A8-4A6B-1563-598221F31828}"/>
              </a:ext>
            </a:extLst>
          </p:cNvPr>
          <p:cNvSpPr/>
          <p:nvPr/>
        </p:nvSpPr>
        <p:spPr>
          <a:xfrm>
            <a:off x="6324600" y="3145972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CCC5BF-F1A6-B41F-44BB-9AACEBFE7316}"/>
              </a:ext>
            </a:extLst>
          </p:cNvPr>
          <p:cNvSpPr txBox="1"/>
          <p:nvPr/>
        </p:nvSpPr>
        <p:spPr>
          <a:xfrm>
            <a:off x="2632913" y="1395987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41916F-66D1-5D2D-BF0D-F30944C9A888}"/>
              </a:ext>
            </a:extLst>
          </p:cNvPr>
          <p:cNvSpPr txBox="1"/>
          <p:nvPr/>
        </p:nvSpPr>
        <p:spPr>
          <a:xfrm>
            <a:off x="8339887" y="1237159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0E0436-666C-6A6D-103F-A41A6FEB3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198" y="2080674"/>
            <a:ext cx="4011459" cy="4053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956B3D-1064-89A2-FEB9-7F3FCA404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198" y="3011897"/>
            <a:ext cx="4270059" cy="47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4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D2F5-C237-73B7-639E-477F0FD81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26B267C-3F1B-5274-67C1-76C3A7DCDD55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4: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Write a query 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6A9050-B7E6-AB54-953C-78FB485C0FCA}"/>
              </a:ext>
            </a:extLst>
          </p:cNvPr>
          <p:cNvSpPr txBox="1"/>
          <p:nvPr/>
        </p:nvSpPr>
        <p:spPr>
          <a:xfrm>
            <a:off x="1107484" y="5296558"/>
            <a:ext cx="85670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DDL statement recreates the Customers table with primary key, unique, and validation constraints to maintain data integrity.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9FA96E-9807-587D-80F3-D4866BFDF9BB}"/>
              </a:ext>
            </a:extLst>
          </p:cNvPr>
          <p:cNvSpPr txBox="1"/>
          <p:nvPr/>
        </p:nvSpPr>
        <p:spPr>
          <a:xfrm>
            <a:off x="1107484" y="195116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TABLE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  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 PRIMARY KEY,  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Name VARCHAR(255) UNIQUE,   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Age INT NOT NULL CHECK (Age &gt; 18));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04A12-09CA-4F35-EE21-8DCCAC566CCB}"/>
              </a:ext>
            </a:extLst>
          </p:cNvPr>
          <p:cNvSpPr txBox="1"/>
          <p:nvPr/>
        </p:nvSpPr>
        <p:spPr>
          <a:xfrm>
            <a:off x="1107484" y="15049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DDL to Recreate Customers Table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EAFD0-592B-9035-8465-B8D93F920AA8}"/>
              </a:ext>
            </a:extLst>
          </p:cNvPr>
          <p:cNvSpPr txBox="1"/>
          <p:nvPr/>
        </p:nvSpPr>
        <p:spPr>
          <a:xfrm>
            <a:off x="1107484" y="3783354"/>
            <a:ext cx="90024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defined as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so each customer is uniquely identified.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marked as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NULL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must be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greater than 18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ensuring valid customer 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UNIQUE constraint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preventing duplicate customer names.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columns store additional customer information.</a:t>
            </a:r>
          </a:p>
        </p:txBody>
      </p:sp>
    </p:spTree>
    <p:extLst>
      <p:ext uri="{BB962C8B-B14F-4D97-AF65-F5344CB8AC3E}">
        <p14:creationId xmlns:p14="http://schemas.microsoft.com/office/powerpoint/2010/main" val="2620665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7C9A0-043F-6A7A-4348-320158804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DC02222-B467-9789-2BF3-E623ED99D390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5: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 3 new rows into the Products table using INSERT statements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B17442-D31C-984F-7A19-C0A2A8A3891B}"/>
              </a:ext>
            </a:extLst>
          </p:cNvPr>
          <p:cNvSpPr txBox="1"/>
          <p:nvPr/>
        </p:nvSpPr>
        <p:spPr>
          <a:xfrm>
            <a:off x="1205453" y="5147414"/>
            <a:ext cx="8567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task shows how to insert multiple product records into a table using a single INSERT statement and verify the output.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E09047-1260-130C-E1ED-B5B3F7638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443" y="1590477"/>
            <a:ext cx="8629786" cy="17248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71C4C8-71A7-7E3E-0E84-D4B0B7587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443" y="3699723"/>
            <a:ext cx="8738643" cy="92293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1D171DA7-8ECD-5301-BB95-EC65FA5B21C7}"/>
              </a:ext>
            </a:extLst>
          </p:cNvPr>
          <p:cNvSpPr/>
          <p:nvPr/>
        </p:nvSpPr>
        <p:spPr>
          <a:xfrm>
            <a:off x="1601292" y="2318656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1A872890-F244-63EC-35E9-19CE2BAD4BD4}"/>
              </a:ext>
            </a:extLst>
          </p:cNvPr>
          <p:cNvSpPr/>
          <p:nvPr/>
        </p:nvSpPr>
        <p:spPr>
          <a:xfrm>
            <a:off x="1601291" y="4030559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5F8E74-A5C5-A6BF-38BC-0E6A77A47BDF}"/>
              </a:ext>
            </a:extLst>
          </p:cNvPr>
          <p:cNvSpPr txBox="1"/>
          <p:nvPr/>
        </p:nvSpPr>
        <p:spPr>
          <a:xfrm>
            <a:off x="259827" y="2218453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06846F-5DAA-CD2F-EF4E-B7C200BC5B5A}"/>
              </a:ext>
            </a:extLst>
          </p:cNvPr>
          <p:cNvSpPr txBox="1"/>
          <p:nvPr/>
        </p:nvSpPr>
        <p:spPr>
          <a:xfrm>
            <a:off x="259827" y="3930356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06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E1EA0-8A91-B92A-8F3F-ED358C3D6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AABD6D2-EB31-C934-FB5E-AB8C5E09DB64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6: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 the stock quantity of a product where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matches a specific ID</a:t>
            </a:r>
            <a:endParaRPr lang="en-US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0AAD8-66D8-E7A8-9881-B87536FBED7B}"/>
              </a:ext>
            </a:extLst>
          </p:cNvPr>
          <p:cNvSpPr txBox="1"/>
          <p:nvPr/>
        </p:nvSpPr>
        <p:spPr>
          <a:xfrm>
            <a:off x="1282746" y="5120560"/>
            <a:ext cx="104193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WHERE clause is essential in UPDATE statements to avoid unintended changes to multiple records and to maintain data accuracy..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0CF268-E2D9-628B-1FDF-51A830C9F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15151"/>
            <a:ext cx="9387840" cy="120984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BE5EE59-7BD7-0268-7473-561898DCD61A}"/>
              </a:ext>
            </a:extLst>
          </p:cNvPr>
          <p:cNvGrpSpPr/>
          <p:nvPr/>
        </p:nvGrpSpPr>
        <p:grpSpPr>
          <a:xfrm>
            <a:off x="2514600" y="3612008"/>
            <a:ext cx="9387840" cy="1108594"/>
            <a:chOff x="1349829" y="3528720"/>
            <a:chExt cx="10363200" cy="129258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83862E9-DE32-5381-26DA-F9012B0B7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49829" y="3528720"/>
              <a:ext cx="10363200" cy="1292582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4D1F985-0F88-338A-9AD9-415BE6A844B5}"/>
                </a:ext>
              </a:extLst>
            </p:cNvPr>
            <p:cNvSpPr/>
            <p:nvPr/>
          </p:nvSpPr>
          <p:spPr>
            <a:xfrm>
              <a:off x="1534886" y="3995057"/>
              <a:ext cx="10080171" cy="174171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C7BA48B3-67C9-50C7-44A9-80BD309A03F8}"/>
              </a:ext>
            </a:extLst>
          </p:cNvPr>
          <p:cNvSpPr/>
          <p:nvPr/>
        </p:nvSpPr>
        <p:spPr>
          <a:xfrm>
            <a:off x="1601292" y="2318656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4B1060-F75F-7B11-47BE-960BCFC12EE9}"/>
              </a:ext>
            </a:extLst>
          </p:cNvPr>
          <p:cNvSpPr/>
          <p:nvPr/>
        </p:nvSpPr>
        <p:spPr>
          <a:xfrm>
            <a:off x="1601291" y="4030559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08051-E169-F8A3-CCD0-CA7C817E1352}"/>
              </a:ext>
            </a:extLst>
          </p:cNvPr>
          <p:cNvSpPr txBox="1"/>
          <p:nvPr/>
        </p:nvSpPr>
        <p:spPr>
          <a:xfrm>
            <a:off x="259827" y="2218453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67E70-44CC-F552-7FB3-717265226BB0}"/>
              </a:ext>
            </a:extLst>
          </p:cNvPr>
          <p:cNvSpPr txBox="1"/>
          <p:nvPr/>
        </p:nvSpPr>
        <p:spPr>
          <a:xfrm>
            <a:off x="259827" y="3930356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52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BEF15-4C2E-9960-0008-2517419B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9E63B3E-0300-0E86-2030-B101F5C23357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7: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Delete a supplier from the Suppliers table where their city matches a specific value.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8504C1-4E7A-6436-96BF-A5DCF6209EDD}"/>
              </a:ext>
            </a:extLst>
          </p:cNvPr>
          <p:cNvSpPr txBox="1"/>
          <p:nvPr/>
        </p:nvSpPr>
        <p:spPr>
          <a:xfrm>
            <a:off x="1107484" y="4658277"/>
            <a:ext cx="10398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updated table confirms that suppliers from </a:t>
            </a:r>
            <a:r>
              <a:rPr lang="en-US" alt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Schneidermouth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have been successfully removed.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COUNT(*) result helps verify the change in total records.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0FB46B-9FC8-4A54-DCD2-6C3A8616D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5" y="1552694"/>
            <a:ext cx="5020376" cy="14765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E5FDA-13DB-C184-5894-89597654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314" y="3199428"/>
            <a:ext cx="6855415" cy="93153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04BED83-1EA1-FAB5-8C1E-DA02FFB9B537}"/>
              </a:ext>
            </a:extLst>
          </p:cNvPr>
          <p:cNvSpPr/>
          <p:nvPr/>
        </p:nvSpPr>
        <p:spPr>
          <a:xfrm>
            <a:off x="2350975" y="1929523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3DED4FA-3173-4FDE-4C87-7086AF0700B4}"/>
              </a:ext>
            </a:extLst>
          </p:cNvPr>
          <p:cNvSpPr/>
          <p:nvPr/>
        </p:nvSpPr>
        <p:spPr>
          <a:xfrm>
            <a:off x="2350974" y="3641426"/>
            <a:ext cx="664029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32C65-8E63-A8BB-FB48-6377DC146001}"/>
              </a:ext>
            </a:extLst>
          </p:cNvPr>
          <p:cNvSpPr txBox="1"/>
          <p:nvPr/>
        </p:nvSpPr>
        <p:spPr>
          <a:xfrm>
            <a:off x="1009510" y="1829320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66D04-62B2-3DE9-FE07-79649BE99B5F}"/>
              </a:ext>
            </a:extLst>
          </p:cNvPr>
          <p:cNvSpPr txBox="1"/>
          <p:nvPr/>
        </p:nvSpPr>
        <p:spPr>
          <a:xfrm>
            <a:off x="1009510" y="3541223"/>
            <a:ext cx="12192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94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D103A-0039-B90D-9349-A4D60038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36918E4-B44D-D81E-7A49-E8B81CD1F35B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8: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SQL constraints 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70A7D9-4A26-6F37-442F-E160BBA32F66}"/>
              </a:ext>
            </a:extLst>
          </p:cNvPr>
          <p:cNvSpPr txBox="1"/>
          <p:nvPr/>
        </p:nvSpPr>
        <p:spPr>
          <a:xfrm>
            <a:off x="443453" y="5456023"/>
            <a:ext cx="49123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verify the CHECK constraint by using SHOW CREATE TABLE or by testing invalid data insertion..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54E684-DC52-90B3-287C-EECD7B20A9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87"/>
          <a:stretch>
            <a:fillRect/>
          </a:stretch>
        </p:blipFill>
        <p:spPr>
          <a:xfrm>
            <a:off x="760674" y="1939803"/>
            <a:ext cx="5272874" cy="1862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B0BA82-2D27-612B-5DAF-241C021B8779}"/>
              </a:ext>
            </a:extLst>
          </p:cNvPr>
          <p:cNvSpPr txBox="1"/>
          <p:nvPr/>
        </p:nvSpPr>
        <p:spPr>
          <a:xfrm>
            <a:off x="648511" y="1401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#8.1 Add CHECK constraint on Reviews. Ratings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652E60-69D1-DD27-D2BB-0117E3C0C514}"/>
              </a:ext>
            </a:extLst>
          </p:cNvPr>
          <p:cNvSpPr txBox="1"/>
          <p:nvPr/>
        </p:nvSpPr>
        <p:spPr>
          <a:xfrm>
            <a:off x="6528567" y="1401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#8.2 Add DEFAULT constraint for Customers.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PrimeMember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CF17EB9-D505-855F-6583-BB47312A5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567" y="1917542"/>
            <a:ext cx="5563975" cy="270590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C440BAC-7741-C67A-62C7-6678D91D25E0}"/>
              </a:ext>
            </a:extLst>
          </p:cNvPr>
          <p:cNvSpPr txBox="1"/>
          <p:nvPr/>
        </p:nvSpPr>
        <p:spPr>
          <a:xfrm>
            <a:off x="6528567" y="5469189"/>
            <a:ext cx="55639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DEFAULT constraint ensures that when no value is provided for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PrimeMember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it is automatically set to 'No'.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2DA694-D5C4-5ED2-461F-E15A5C38F681}"/>
              </a:ext>
            </a:extLst>
          </p:cNvPr>
          <p:cNvCxnSpPr>
            <a:cxnSpLocks/>
          </p:cNvCxnSpPr>
          <p:nvPr/>
        </p:nvCxnSpPr>
        <p:spPr>
          <a:xfrm>
            <a:off x="6281057" y="1428138"/>
            <a:ext cx="0" cy="50924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E650D248-763A-D5E1-B392-843BF6287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23" y="4444723"/>
            <a:ext cx="5878279" cy="3693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35D24C-5222-4269-8189-94A7DFF67015}"/>
              </a:ext>
            </a:extLst>
          </p:cNvPr>
          <p:cNvSpPr txBox="1"/>
          <p:nvPr/>
        </p:nvSpPr>
        <p:spPr>
          <a:xfrm>
            <a:off x="279023" y="39712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Message Occurs when we insert Rating above 5</a:t>
            </a:r>
          </a:p>
        </p:txBody>
      </p:sp>
    </p:spTree>
    <p:extLst>
      <p:ext uri="{BB962C8B-B14F-4D97-AF65-F5344CB8AC3E}">
        <p14:creationId xmlns:p14="http://schemas.microsoft.com/office/powerpoint/2010/main" val="697535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06ABA-AF64-64DA-C744-715847CF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AFA51B-0D88-D0E2-C38F-E61ABDB81FCE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9: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queries using.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38E3A-172A-A5CF-EC8F-3FCFA1E4E62C}"/>
              </a:ext>
            </a:extLst>
          </p:cNvPr>
          <p:cNvSpPr txBox="1"/>
          <p:nvPr/>
        </p:nvSpPr>
        <p:spPr>
          <a:xfrm>
            <a:off x="1567542" y="1486626"/>
            <a:ext cx="49983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#9.1 WHERE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clause to find orders placed after 2024-01-01.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8E4E3C-0336-4BF2-1772-679FF1878969}"/>
              </a:ext>
            </a:extLst>
          </p:cNvPr>
          <p:cNvSpPr txBox="1"/>
          <p:nvPr/>
        </p:nvSpPr>
        <p:spPr>
          <a:xfrm>
            <a:off x="7120067" y="1399697"/>
            <a:ext cx="49021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#9.2 HAVING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clause to list products with average ratings greater than 4.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59E25B-BBF8-1CB9-9E24-D964CB064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42" y="2048308"/>
            <a:ext cx="5107206" cy="20192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39DE08-EB5D-FDBA-C56F-3998EE77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0936" y="2048308"/>
            <a:ext cx="4891261" cy="20192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BDD42F-8B13-4549-9CE9-7D793D84762E}"/>
              </a:ext>
            </a:extLst>
          </p:cNvPr>
          <p:cNvSpPr txBox="1"/>
          <p:nvPr/>
        </p:nvSpPr>
        <p:spPr>
          <a:xfrm>
            <a:off x="1567542" y="4494332"/>
            <a:ext cx="68471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#9.3 GROUP BY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BY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clauses to rank products by total sales.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7727A9-26DF-8760-C5A1-35290828A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542" y="4875444"/>
            <a:ext cx="5107206" cy="170855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B14DA843-EB84-DB01-0ACF-E61368B4089A}"/>
              </a:ext>
            </a:extLst>
          </p:cNvPr>
          <p:cNvSpPr/>
          <p:nvPr/>
        </p:nvSpPr>
        <p:spPr>
          <a:xfrm>
            <a:off x="1235527" y="2371604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6ADD9A6A-43F3-E309-F784-0F93C3D24534}"/>
              </a:ext>
            </a:extLst>
          </p:cNvPr>
          <p:cNvSpPr/>
          <p:nvPr/>
        </p:nvSpPr>
        <p:spPr>
          <a:xfrm>
            <a:off x="1235527" y="3541610"/>
            <a:ext cx="332015" cy="2728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56541-23F3-5A4B-A815-870B9E9D4599}"/>
              </a:ext>
            </a:extLst>
          </p:cNvPr>
          <p:cNvSpPr txBox="1"/>
          <p:nvPr/>
        </p:nvSpPr>
        <p:spPr>
          <a:xfrm>
            <a:off x="169802" y="2287353"/>
            <a:ext cx="1065725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0D878B-9023-8CD3-A59C-E3E18B1DE6B9}"/>
              </a:ext>
            </a:extLst>
          </p:cNvPr>
          <p:cNvSpPr txBox="1"/>
          <p:nvPr/>
        </p:nvSpPr>
        <p:spPr>
          <a:xfrm>
            <a:off x="169802" y="3475909"/>
            <a:ext cx="1065725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5F6D3FD-2876-B52D-0DB9-E6AD1BAEE21F}"/>
              </a:ext>
            </a:extLst>
          </p:cNvPr>
          <p:cNvSpPr/>
          <p:nvPr/>
        </p:nvSpPr>
        <p:spPr>
          <a:xfrm>
            <a:off x="1235527" y="5047467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5BD097B-69DE-F87C-8C7B-56658DF18AA3}"/>
              </a:ext>
            </a:extLst>
          </p:cNvPr>
          <p:cNvSpPr/>
          <p:nvPr/>
        </p:nvSpPr>
        <p:spPr>
          <a:xfrm>
            <a:off x="1235527" y="6217473"/>
            <a:ext cx="332015" cy="2612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D6A41-74B8-D377-48F4-BB5520420C04}"/>
              </a:ext>
            </a:extLst>
          </p:cNvPr>
          <p:cNvSpPr txBox="1"/>
          <p:nvPr/>
        </p:nvSpPr>
        <p:spPr>
          <a:xfrm>
            <a:off x="169802" y="4963972"/>
            <a:ext cx="1065725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0B39C-9BBA-40A2-30D8-B15EF923735E}"/>
              </a:ext>
            </a:extLst>
          </p:cNvPr>
          <p:cNvSpPr txBox="1"/>
          <p:nvPr/>
        </p:nvSpPr>
        <p:spPr>
          <a:xfrm>
            <a:off x="169802" y="6140886"/>
            <a:ext cx="1065725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B052BC-1A9E-789A-38D4-81281B56CA2E}"/>
              </a:ext>
            </a:extLst>
          </p:cNvPr>
          <p:cNvSpPr txBox="1"/>
          <p:nvPr/>
        </p:nvSpPr>
        <p:spPr>
          <a:xfrm>
            <a:off x="1567542" y="410400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only orders with dates beyond the specified threshold.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D316C5-85C9-6A86-CB04-C26999FB869D}"/>
              </a:ext>
            </a:extLst>
          </p:cNvPr>
          <p:cNvSpPr txBox="1"/>
          <p:nvPr/>
        </p:nvSpPr>
        <p:spPr>
          <a:xfrm>
            <a:off x="7130936" y="4104001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Displays products that meet the average rating condition.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118844-B457-F1AB-7E6B-F8F28AC11757}"/>
              </a:ext>
            </a:extLst>
          </p:cNvPr>
          <p:cNvSpPr txBox="1"/>
          <p:nvPr/>
        </p:nvSpPr>
        <p:spPr>
          <a:xfrm>
            <a:off x="6674748" y="6223530"/>
            <a:ext cx="49729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Orders ranked from highest to lowest total sales.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105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7DCF8-2311-7E24-BA4E-3BB935DC4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0F33E-D409-1040-ED18-67076E3C0C27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10: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High-Value Customers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B1F073-169C-D1BB-DCB8-3F81A63B72AB}"/>
              </a:ext>
            </a:extLst>
          </p:cNvPr>
          <p:cNvSpPr txBox="1"/>
          <p:nvPr/>
        </p:nvSpPr>
        <p:spPr>
          <a:xfrm>
            <a:off x="1377854" y="1401977"/>
            <a:ext cx="42500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#10.1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each customer's total spending..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57D40-BDD4-C284-C656-3D5D2B83274B}"/>
              </a:ext>
            </a:extLst>
          </p:cNvPr>
          <p:cNvSpPr txBox="1"/>
          <p:nvPr/>
        </p:nvSpPr>
        <p:spPr>
          <a:xfrm>
            <a:off x="7257910" y="14019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#10.2 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 customers based on total spending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B98229-C918-E960-BA41-D61A14CC8037}"/>
              </a:ext>
            </a:extLst>
          </p:cNvPr>
          <p:cNvSpPr txBox="1"/>
          <p:nvPr/>
        </p:nvSpPr>
        <p:spPr>
          <a:xfrm>
            <a:off x="1377854" y="4204984"/>
            <a:ext cx="6471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#10.3 </a:t>
            </a: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customers who spent more than ₹5,000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8033FE-B4E7-9460-2F57-C8139E813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54" y="1740531"/>
            <a:ext cx="4087290" cy="2026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8F230F-3CD1-412B-964D-DC425546F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910" y="1740531"/>
            <a:ext cx="3994740" cy="20261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C96FDA-48E1-E90C-7B56-A1A9CE644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854" y="4517377"/>
            <a:ext cx="4156836" cy="2231163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86EE3E85-28B0-EAC3-0E45-11B51D7711FA}"/>
              </a:ext>
            </a:extLst>
          </p:cNvPr>
          <p:cNvSpPr/>
          <p:nvPr/>
        </p:nvSpPr>
        <p:spPr>
          <a:xfrm>
            <a:off x="1091748" y="2128582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3B767-49E2-FAC6-E5DC-3F25300A141C}"/>
              </a:ext>
            </a:extLst>
          </p:cNvPr>
          <p:cNvSpPr txBox="1"/>
          <p:nvPr/>
        </p:nvSpPr>
        <p:spPr>
          <a:xfrm>
            <a:off x="105654" y="2083632"/>
            <a:ext cx="986094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1BECC-FEE7-09B2-A99A-58449CFE078A}"/>
              </a:ext>
            </a:extLst>
          </p:cNvPr>
          <p:cNvSpPr txBox="1"/>
          <p:nvPr/>
        </p:nvSpPr>
        <p:spPr>
          <a:xfrm>
            <a:off x="120248" y="3027098"/>
            <a:ext cx="9715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279BEDF-DC93-B2D2-EA5D-0F558F5F3BE7}"/>
              </a:ext>
            </a:extLst>
          </p:cNvPr>
          <p:cNvSpPr/>
          <p:nvPr/>
        </p:nvSpPr>
        <p:spPr>
          <a:xfrm>
            <a:off x="1091748" y="3172128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C3EF672-0B80-DA5F-FAFD-2A14683D73EE}"/>
              </a:ext>
            </a:extLst>
          </p:cNvPr>
          <p:cNvSpPr/>
          <p:nvPr/>
        </p:nvSpPr>
        <p:spPr>
          <a:xfrm>
            <a:off x="1054585" y="4961076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B83E02-2784-C9B9-ECCE-211F81CE8208}"/>
              </a:ext>
            </a:extLst>
          </p:cNvPr>
          <p:cNvSpPr txBox="1"/>
          <p:nvPr/>
        </p:nvSpPr>
        <p:spPr>
          <a:xfrm>
            <a:off x="68491" y="4916126"/>
            <a:ext cx="986094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BA8B89-E43D-2E65-06B6-3C58EC9128E3}"/>
              </a:ext>
            </a:extLst>
          </p:cNvPr>
          <p:cNvSpPr txBox="1"/>
          <p:nvPr/>
        </p:nvSpPr>
        <p:spPr>
          <a:xfrm>
            <a:off x="83085" y="5859592"/>
            <a:ext cx="9715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7A1C4F4-4169-CF05-8192-ED309B9F6FDA}"/>
              </a:ext>
            </a:extLst>
          </p:cNvPr>
          <p:cNvSpPr/>
          <p:nvPr/>
        </p:nvSpPr>
        <p:spPr>
          <a:xfrm>
            <a:off x="1054585" y="6004622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E59051-B2A8-8926-78BE-A7132DF33E3A}"/>
              </a:ext>
            </a:extLst>
          </p:cNvPr>
          <p:cNvSpPr txBox="1"/>
          <p:nvPr/>
        </p:nvSpPr>
        <p:spPr>
          <a:xfrm>
            <a:off x="5857959" y="6389666"/>
            <a:ext cx="6678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Lists only those customers who meet the spending threshold.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C65A31-5EF5-B312-BB76-2928C7F03E1D}"/>
              </a:ext>
            </a:extLst>
          </p:cNvPr>
          <p:cNvSpPr txBox="1"/>
          <p:nvPr/>
        </p:nvSpPr>
        <p:spPr>
          <a:xfrm>
            <a:off x="1377854" y="3810055"/>
            <a:ext cx="43262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total spending for each customer.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EF4AAE-FDDB-3EDB-8D9A-21F6E30DB652}"/>
              </a:ext>
            </a:extLst>
          </p:cNvPr>
          <p:cNvSpPr txBox="1"/>
          <p:nvPr/>
        </p:nvSpPr>
        <p:spPr>
          <a:xfrm>
            <a:off x="6966718" y="3821589"/>
            <a:ext cx="66783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Displays each customer’s rank based on spending.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81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4F34-23FF-1007-4A10-E046234C9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6B08388-4C5C-67ED-61AE-0620FCD6A126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11: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SQL to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3D4C15-A2C3-481A-8DA6-8BC40A7F5EA2}"/>
              </a:ext>
            </a:extLst>
          </p:cNvPr>
          <p:cNvSpPr txBox="1"/>
          <p:nvPr/>
        </p:nvSpPr>
        <p:spPr>
          <a:xfrm>
            <a:off x="1333767" y="1412778"/>
            <a:ext cx="54474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#11.1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Join the Orders and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OrderDetails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tables to calculate total revenue per order.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A2409-4AA1-7126-51DE-591DAA51A1A3}"/>
              </a:ext>
            </a:extLst>
          </p:cNvPr>
          <p:cNvSpPr txBox="1"/>
          <p:nvPr/>
        </p:nvSpPr>
        <p:spPr>
          <a:xfrm>
            <a:off x="7094624" y="1410413"/>
            <a:ext cx="5097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#11.2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 customers who placed the most orders in a specific time period.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5E10AD-7E3C-3BAE-8365-AF0F256FB3C4}"/>
              </a:ext>
            </a:extLst>
          </p:cNvPr>
          <p:cNvSpPr txBox="1"/>
          <p:nvPr/>
        </p:nvSpPr>
        <p:spPr>
          <a:xfrm>
            <a:off x="1247225" y="4357272"/>
            <a:ext cx="51132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#11.3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Find the supplier with the most products in stock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D1214-4B97-F5E8-E86A-2BD289F7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77" y="2028331"/>
            <a:ext cx="3952166" cy="16678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8FDC22-8388-400A-0700-AE604B66A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229" y="2033109"/>
            <a:ext cx="3549394" cy="17263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4A5B99-859E-9B08-5AA9-69CF29418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377" y="4695826"/>
            <a:ext cx="4935096" cy="2113131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ACC9D3B-5F50-C41A-4022-DFD354AEF499}"/>
              </a:ext>
            </a:extLst>
          </p:cNvPr>
          <p:cNvSpPr/>
          <p:nvPr/>
        </p:nvSpPr>
        <p:spPr>
          <a:xfrm>
            <a:off x="1091748" y="2128582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5EA8D-9B29-9B81-05A2-CDEB7CF89344}"/>
              </a:ext>
            </a:extLst>
          </p:cNvPr>
          <p:cNvSpPr txBox="1"/>
          <p:nvPr/>
        </p:nvSpPr>
        <p:spPr>
          <a:xfrm>
            <a:off x="105654" y="2083632"/>
            <a:ext cx="986094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CB84FF-34CF-5F7D-5EB6-E76355A0D5BB}"/>
              </a:ext>
            </a:extLst>
          </p:cNvPr>
          <p:cNvSpPr txBox="1"/>
          <p:nvPr/>
        </p:nvSpPr>
        <p:spPr>
          <a:xfrm>
            <a:off x="120248" y="3081528"/>
            <a:ext cx="9715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DC08916C-8CAC-3917-0FB2-CCFC23DF225D}"/>
              </a:ext>
            </a:extLst>
          </p:cNvPr>
          <p:cNvSpPr/>
          <p:nvPr/>
        </p:nvSpPr>
        <p:spPr>
          <a:xfrm>
            <a:off x="1091748" y="3172128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F328942-98F4-CC33-BADF-2A6085B4E840}"/>
              </a:ext>
            </a:extLst>
          </p:cNvPr>
          <p:cNvSpPr/>
          <p:nvPr/>
        </p:nvSpPr>
        <p:spPr>
          <a:xfrm>
            <a:off x="1054585" y="5342077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77A7F-4E55-05BB-ED67-403AA1755E02}"/>
              </a:ext>
            </a:extLst>
          </p:cNvPr>
          <p:cNvSpPr txBox="1"/>
          <p:nvPr/>
        </p:nvSpPr>
        <p:spPr>
          <a:xfrm>
            <a:off x="68491" y="5297127"/>
            <a:ext cx="986094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9D6162-F0B3-3BD5-3AB3-BFABCBD2248B}"/>
              </a:ext>
            </a:extLst>
          </p:cNvPr>
          <p:cNvSpPr txBox="1"/>
          <p:nvPr/>
        </p:nvSpPr>
        <p:spPr>
          <a:xfrm>
            <a:off x="83085" y="6305909"/>
            <a:ext cx="9715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0039BE2-A8B3-6B96-1909-0965E99B7077}"/>
              </a:ext>
            </a:extLst>
          </p:cNvPr>
          <p:cNvSpPr/>
          <p:nvPr/>
        </p:nvSpPr>
        <p:spPr>
          <a:xfrm>
            <a:off x="1054585" y="6385623"/>
            <a:ext cx="332015" cy="2265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E6E20A-0082-CD1A-9E24-229E2A39AC3D}"/>
              </a:ext>
            </a:extLst>
          </p:cNvPr>
          <p:cNvSpPr txBox="1"/>
          <p:nvPr/>
        </p:nvSpPr>
        <p:spPr>
          <a:xfrm>
            <a:off x="1247225" y="383071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revenue per order by aggregating item-level details.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FE825-A41C-8DC8-4538-479A76789262}"/>
              </a:ext>
            </a:extLst>
          </p:cNvPr>
          <p:cNvSpPr txBox="1"/>
          <p:nvPr/>
        </p:nvSpPr>
        <p:spPr>
          <a:xfrm>
            <a:off x="6973110" y="3830713"/>
            <a:ext cx="52188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Lists customers with the highest order count in the specified range.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E42BE9-90C3-0C59-9CD7-6425E35DFFB9}"/>
              </a:ext>
            </a:extLst>
          </p:cNvPr>
          <p:cNvSpPr txBox="1"/>
          <p:nvPr/>
        </p:nvSpPr>
        <p:spPr>
          <a:xfrm>
            <a:off x="6973110" y="630158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Displays the top supplier based on total stock.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66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63F62-C0F5-82B3-ED53-8B64D0A8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FE291B-5853-405B-A5FA-A5200DEBDAB8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12: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Normalize the Products table to 3NF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8C704-B69D-5240-01F6-669358B911B5}"/>
              </a:ext>
            </a:extLst>
          </p:cNvPr>
          <p:cNvSpPr txBox="1"/>
          <p:nvPr/>
        </p:nvSpPr>
        <p:spPr>
          <a:xfrm>
            <a:off x="1107484" y="1410416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#12.1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Separate product categories and subcategories into a new table.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5CC77-B973-291F-353C-D77158559C64}"/>
              </a:ext>
            </a:extLst>
          </p:cNvPr>
          <p:cNvSpPr txBox="1"/>
          <p:nvPr/>
        </p:nvSpPr>
        <p:spPr>
          <a:xfrm>
            <a:off x="1105711" y="3972766"/>
            <a:ext cx="6471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#12.2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Create foreign keys to maintain relationships.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BD3FA-8026-09E1-717C-651C3AB22F0B}"/>
              </a:ext>
            </a:extLst>
          </p:cNvPr>
          <p:cNvSpPr txBox="1"/>
          <p:nvPr/>
        </p:nvSpPr>
        <p:spPr>
          <a:xfrm>
            <a:off x="6466114" y="4757115"/>
            <a:ext cx="547551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 keys are used to link related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SubCategories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references the Categories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SubCategoryID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Products references the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SubCategories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relationships ensure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referential integrity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Invalid category or subcategory values cannot be inserted.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201B0-FA56-B78D-90B2-FF031B90C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552" y="4311320"/>
            <a:ext cx="3878820" cy="20380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D6C463-A930-BE25-D326-30178A351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22" y="1975325"/>
            <a:ext cx="2795287" cy="15516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B3175DA-FFED-D37D-D1D4-AB2F7E1D3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265" y="2015725"/>
            <a:ext cx="2019792" cy="1511246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7F749B-B6AC-AE15-F41E-4B576FF949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003120"/>
              </p:ext>
            </p:extLst>
          </p:nvPr>
        </p:nvGraphicFramePr>
        <p:xfrm>
          <a:off x="7196268" y="1892895"/>
          <a:ext cx="4995732" cy="1984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70295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D16FC-9A36-1AA6-06D7-28D7C905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08A2D9C-2D88-B955-D53F-CECD39A3B67B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13: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subquery to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86A9A6-02A4-3097-E315-E16DA910CBA0}"/>
              </a:ext>
            </a:extLst>
          </p:cNvPr>
          <p:cNvSpPr txBox="1"/>
          <p:nvPr/>
        </p:nvSpPr>
        <p:spPr>
          <a:xfrm>
            <a:off x="1192797" y="1401977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#13.1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 the top 3 products based on sales revenue.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1E5CA-D93D-AB64-4CCC-D550EA484319}"/>
              </a:ext>
            </a:extLst>
          </p:cNvPr>
          <p:cNvSpPr txBox="1"/>
          <p:nvPr/>
        </p:nvSpPr>
        <p:spPr>
          <a:xfrm>
            <a:off x="6276425" y="1401977"/>
            <a:ext cx="6471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#13.2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Find customers who haven’t placed any orders yet.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FDC55A-A01E-5516-EF61-2E4FEDAEE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84" y="1824312"/>
            <a:ext cx="4782910" cy="29639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8CA7FF-ABBE-7913-84E0-AE22C1E4C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957" y="1771309"/>
            <a:ext cx="4378116" cy="2963977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705CFE-2565-D6AE-249B-5471C2E39E1E}"/>
              </a:ext>
            </a:extLst>
          </p:cNvPr>
          <p:cNvCxnSpPr>
            <a:cxnSpLocks/>
          </p:cNvCxnSpPr>
          <p:nvPr/>
        </p:nvCxnSpPr>
        <p:spPr>
          <a:xfrm>
            <a:off x="6281057" y="1428138"/>
            <a:ext cx="0" cy="50924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8C650C1-64FE-3C9F-997C-EFF2A176510B}"/>
              </a:ext>
            </a:extLst>
          </p:cNvPr>
          <p:cNvSpPr txBox="1"/>
          <p:nvPr/>
        </p:nvSpPr>
        <p:spPr>
          <a:xfrm>
            <a:off x="1054005" y="4815131"/>
            <a:ext cx="63735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Notes: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Displays the top 3 products with the highest revenue.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67765B-185B-1C37-1B5A-7D0DDAF73774}"/>
              </a:ext>
            </a:extLst>
          </p:cNvPr>
          <p:cNvSpPr txBox="1"/>
          <p:nvPr/>
        </p:nvSpPr>
        <p:spPr>
          <a:xfrm>
            <a:off x="6464893" y="4784353"/>
            <a:ext cx="54331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Notes: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 customers who are registered but inactive in terms of purchases.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useful for targeting inactive users in marketing or retention campaigns.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661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0AC5-32BA-6C71-616F-E3D299AF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C1E7D2B-B2D3-3482-A3F2-A5E123A13BCF}"/>
              </a:ext>
            </a:extLst>
          </p:cNvPr>
          <p:cNvSpPr txBox="1"/>
          <p:nvPr/>
        </p:nvSpPr>
        <p:spPr>
          <a:xfrm>
            <a:off x="1107484" y="997251"/>
            <a:ext cx="938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14:</a:t>
            </a:r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actionable insights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B4E49C-B872-E003-0AA9-BB2653064F10}"/>
              </a:ext>
            </a:extLst>
          </p:cNvPr>
          <p:cNvSpPr txBox="1"/>
          <p:nvPr/>
        </p:nvSpPr>
        <p:spPr>
          <a:xfrm>
            <a:off x="1107484" y="136008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#14.1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Cities with the highest concentration of Prime members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ED9E9-7430-CD12-7B76-905B648509F0}"/>
              </a:ext>
            </a:extLst>
          </p:cNvPr>
          <p:cNvSpPr txBox="1"/>
          <p:nvPr/>
        </p:nvSpPr>
        <p:spPr>
          <a:xfrm>
            <a:off x="7293216" y="1360084"/>
            <a:ext cx="6471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#14.2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Top 3 most frequently ordered categories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07E579-4B26-6CCD-99C4-C9A07F348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16" y="1752489"/>
            <a:ext cx="3376558" cy="22202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D3719E-7F49-B5D4-3DCA-F2AAE745F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829" y="1790971"/>
            <a:ext cx="3362794" cy="1771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381604-715A-F2DC-4DC7-53FB2DDE7FE0}"/>
              </a:ext>
            </a:extLst>
          </p:cNvPr>
          <p:cNvSpPr txBox="1"/>
          <p:nvPr/>
        </p:nvSpPr>
        <p:spPr>
          <a:xfrm>
            <a:off x="1023257" y="4322020"/>
            <a:ext cx="53448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top cities with the highest number of Prime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cities may be ideal for launching exclusive offers or early access campaigns.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031F8E-1D90-1594-0861-6978CB27BCBC}"/>
              </a:ext>
            </a:extLst>
          </p:cNvPr>
          <p:cNvSpPr txBox="1"/>
          <p:nvPr/>
        </p:nvSpPr>
        <p:spPr>
          <a:xfrm>
            <a:off x="7070059" y="4322020"/>
            <a:ext cx="51219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 the top 3 categories by order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categories can be prioritized for inventory, promotions, or bundling strategies.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42A93E-19F8-4155-176E-3EDBFAD668B2}"/>
              </a:ext>
            </a:extLst>
          </p:cNvPr>
          <p:cNvCxnSpPr>
            <a:cxnSpLocks/>
          </p:cNvCxnSpPr>
          <p:nvPr/>
        </p:nvCxnSpPr>
        <p:spPr>
          <a:xfrm>
            <a:off x="6662057" y="1360084"/>
            <a:ext cx="0" cy="50924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454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F46DA087-2662-0725-53F9-CF835D1DC8F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" r="74"/>
          <a:stretch/>
        </p:blipFill>
        <p:spPr>
          <a:xfrm>
            <a:off x="4833257" y="973183"/>
            <a:ext cx="2286000" cy="2286000"/>
          </a:xfr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{49D2B4D9-00DC-451E-96F4-E7325D5FDC97}tf67061901_win32</Template>
  <TotalTime>629</TotalTime>
  <Words>1109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Courier New</vt:lpstr>
      <vt:lpstr>Daytona Condensed Light</vt:lpstr>
      <vt:lpstr>Posterama</vt:lpstr>
      <vt:lpstr>Custom</vt:lpstr>
      <vt:lpstr>Amazon Fresh Analytics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Nishanth S L</dc:creator>
  <cp:lastModifiedBy>Nishanth S L</cp:lastModifiedBy>
  <cp:revision>60</cp:revision>
  <dcterms:created xsi:type="dcterms:W3CDTF">2025-12-20T05:45:06Z</dcterms:created>
  <dcterms:modified xsi:type="dcterms:W3CDTF">2025-12-22T05:17:29Z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