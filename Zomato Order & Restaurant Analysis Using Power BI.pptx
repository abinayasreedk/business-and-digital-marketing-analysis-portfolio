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2" r:id="rId13"/>
    <p:sldId id="273" r:id="rId14"/>
    <p:sldId id="266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Excel_Macro-Enabled_Worksheet.xlsm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7920" y="639097"/>
            <a:ext cx="6595151" cy="3686015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Zomato Order &amp; Restaurant Analysis Using Power BI</a:t>
            </a:r>
            <a:endParaRPr lang="en-US" sz="8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468219"/>
          </a:xfrm>
        </p:spPr>
        <p:txBody>
          <a:bodyPr>
            <a:normAutofit/>
          </a:bodyPr>
          <a:lstStyle/>
          <a:p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&amp; Beverage, Business Analytics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1E0669-2D13-7FE7-1FF5-27BEE6725E32}"/>
              </a:ext>
            </a:extLst>
          </p:cNvPr>
          <p:cNvCxnSpPr/>
          <p:nvPr/>
        </p:nvCxnSpPr>
        <p:spPr>
          <a:xfrm>
            <a:off x="284480" y="538480"/>
            <a:ext cx="11623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76DA2F9-E43F-E765-DA1A-0B4E7B5FCF3D}"/>
              </a:ext>
            </a:extLst>
          </p:cNvPr>
          <p:cNvSpPr txBox="1"/>
          <p:nvPr/>
        </p:nvSpPr>
        <p:spPr>
          <a:xfrm>
            <a:off x="284480" y="494119"/>
            <a:ext cx="372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Dataset into MySQL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968D1-504F-3D1D-C7AE-84D66ABD35F7}"/>
              </a:ext>
            </a:extLst>
          </p:cNvPr>
          <p:cNvSpPr txBox="1"/>
          <p:nvPr/>
        </p:nvSpPr>
        <p:spPr>
          <a:xfrm>
            <a:off x="284480" y="83584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 Created Schema: </a:t>
            </a:r>
            <a:r>
              <a:rPr lang="en-IN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ZomatoDB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 Import tables in Schema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E8A050-B7B3-ADF8-EC87-52AB2A97BB4A}"/>
              </a:ext>
            </a:extLst>
          </p:cNvPr>
          <p:cNvSpPr txBox="1"/>
          <p:nvPr/>
        </p:nvSpPr>
        <p:spPr>
          <a:xfrm>
            <a:off x="284480" y="1608573"/>
            <a:ext cx="46228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2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Transformation using SQL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1.Basic Data Cleaning</a:t>
            </a:r>
          </a:p>
          <a:p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A.Remove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Duplicate Records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73BE44-114A-A1F3-D99E-7F77EF47A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742" y="592278"/>
            <a:ext cx="3342938" cy="999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805020-4719-F464-0475-BDE59B286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1" y="2552271"/>
            <a:ext cx="3537836" cy="14660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A3ACD33-F002-564A-148B-3841FFF068DD}"/>
              </a:ext>
            </a:extLst>
          </p:cNvPr>
          <p:cNvSpPr txBox="1"/>
          <p:nvPr/>
        </p:nvSpPr>
        <p:spPr>
          <a:xfrm>
            <a:off x="4795520" y="218293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Handle NULL Values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0345B10-8BCE-FBCC-689F-A6A6EFE34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521" y="2551912"/>
            <a:ext cx="2480378" cy="13088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925ADA-A8D9-B621-120E-A86263D5E64C}"/>
              </a:ext>
            </a:extLst>
          </p:cNvPr>
          <p:cNvSpPr txBox="1"/>
          <p:nvPr/>
        </p:nvSpPr>
        <p:spPr>
          <a:xfrm>
            <a:off x="284480" y="39505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2.Data Exploration Queries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DCD3C7-24EF-B9CA-8C69-756AACF256A8}"/>
              </a:ext>
            </a:extLst>
          </p:cNvPr>
          <p:cNvSpPr txBox="1"/>
          <p:nvPr/>
        </p:nvSpPr>
        <p:spPr>
          <a:xfrm>
            <a:off x="259079" y="4262751"/>
            <a:ext cx="40722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Count number of restaurants in each city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D8DF35-5A95-2D4A-34E6-EE14BF11536A}"/>
              </a:ext>
            </a:extLst>
          </p:cNvPr>
          <p:cNvSpPr txBox="1"/>
          <p:nvPr/>
        </p:nvSpPr>
        <p:spPr>
          <a:xfrm>
            <a:off x="4489765" y="4235310"/>
            <a:ext cx="3952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Top 5 cities with highest number of orders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6B3988C-C382-697C-ED63-DEEA7399C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79" y="4839438"/>
            <a:ext cx="4072251" cy="91647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78532E2-FDAB-6075-772F-64B79B469E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4672" y="4855096"/>
            <a:ext cx="3345536" cy="134195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A0DC357-96E5-C6DD-EB20-96256A10A261}"/>
              </a:ext>
            </a:extLst>
          </p:cNvPr>
          <p:cNvSpPr txBox="1"/>
          <p:nvPr/>
        </p:nvSpPr>
        <p:spPr>
          <a:xfrm>
            <a:off x="8575040" y="4235308"/>
            <a:ext cx="35996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 Total revenue generated by each restaurant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EE0D26D-0884-9656-467D-F7D657776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5680" y="4855096"/>
            <a:ext cx="2582842" cy="113071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3B70946-9B9A-E489-AA40-4935997D6463}"/>
              </a:ext>
            </a:extLst>
          </p:cNvPr>
          <p:cNvSpPr txBox="1"/>
          <p:nvPr/>
        </p:nvSpPr>
        <p:spPr>
          <a:xfrm>
            <a:off x="243217" y="6164"/>
            <a:ext cx="28485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SQL Tasks </a:t>
            </a:r>
          </a:p>
        </p:txBody>
      </p:sp>
    </p:spTree>
    <p:extLst>
      <p:ext uri="{BB962C8B-B14F-4D97-AF65-F5344CB8AC3E}">
        <p14:creationId xmlns:p14="http://schemas.microsoft.com/office/powerpoint/2010/main" val="297453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32831-05DA-BEB8-20C7-F169ECD0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B6A15A5-0B95-CB6F-C147-21D28EB66BDB}"/>
              </a:ext>
            </a:extLst>
          </p:cNvPr>
          <p:cNvCxnSpPr/>
          <p:nvPr/>
        </p:nvCxnSpPr>
        <p:spPr>
          <a:xfrm>
            <a:off x="284480" y="538480"/>
            <a:ext cx="11623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5562991-19D0-5A70-6851-8A3B79E3D271}"/>
              </a:ext>
            </a:extLst>
          </p:cNvPr>
          <p:cNvSpPr txBox="1"/>
          <p:nvPr/>
        </p:nvSpPr>
        <p:spPr>
          <a:xfrm>
            <a:off x="284480" y="514439"/>
            <a:ext cx="372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3.Data Aggregation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68E0A-E7F2-BC5A-F7D7-29F968CC7083}"/>
              </a:ext>
            </a:extLst>
          </p:cNvPr>
          <p:cNvSpPr txBox="1"/>
          <p:nvPr/>
        </p:nvSpPr>
        <p:spPr>
          <a:xfrm>
            <a:off x="284480" y="807496"/>
            <a:ext cx="389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Average order amount for each city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44389C-8FA9-466B-85B6-8A78908B3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1" y="1176828"/>
            <a:ext cx="3728720" cy="14899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C89D16-0F6B-4AD0-055A-1C85B0D00AD9}"/>
              </a:ext>
            </a:extLst>
          </p:cNvPr>
          <p:cNvSpPr txBox="1"/>
          <p:nvPr/>
        </p:nvSpPr>
        <p:spPr>
          <a:xfrm>
            <a:off x="4653280" y="80749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Top 5 restaurants with highest total sales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40E1D8-5BBC-9428-3C55-96560C8F4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153" y="1176828"/>
            <a:ext cx="2596167" cy="151443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1EFCC94-A406-9FA0-9378-EF19A5B0BF30}"/>
              </a:ext>
            </a:extLst>
          </p:cNvPr>
          <p:cNvSpPr txBox="1"/>
          <p:nvPr/>
        </p:nvSpPr>
        <p:spPr>
          <a:xfrm>
            <a:off x="284480" y="28750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4.Data Joins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4852A41-794C-7BA8-3FE5-B38CF0C1F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80" y="3653202"/>
            <a:ext cx="6096000" cy="192765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43F713E-F33B-4C25-D069-6DA2F28848D9}"/>
              </a:ext>
            </a:extLst>
          </p:cNvPr>
          <p:cNvSpPr txBox="1"/>
          <p:nvPr/>
        </p:nvSpPr>
        <p:spPr>
          <a:xfrm>
            <a:off x="284480" y="322412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Joined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Zomato_Orders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Zomato_Restaurants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Restaurant_ID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00C67B-9216-FDBE-0CCC-70597E102490}"/>
              </a:ext>
            </a:extLst>
          </p:cNvPr>
          <p:cNvSpPr txBox="1"/>
          <p:nvPr/>
        </p:nvSpPr>
        <p:spPr>
          <a:xfrm>
            <a:off x="199199" y="38632"/>
            <a:ext cx="1345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SQL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EBABE7-9B00-2DC2-6763-3FCBCADE2CC3}"/>
              </a:ext>
            </a:extLst>
          </p:cNvPr>
          <p:cNvSpPr txBox="1"/>
          <p:nvPr/>
        </p:nvSpPr>
        <p:spPr>
          <a:xfrm>
            <a:off x="6959600" y="28910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5.Export the transformed dataset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B0BDC2-FF7E-7DAE-BFB3-236110E4FB24}"/>
              </a:ext>
            </a:extLst>
          </p:cNvPr>
          <p:cNvSpPr txBox="1"/>
          <p:nvPr/>
        </p:nvSpPr>
        <p:spPr>
          <a:xfrm>
            <a:off x="6959600" y="3224121"/>
            <a:ext cx="6527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Exported transformed data to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Power BI usage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7B08C606-2C3C-6907-C4B8-540E2EE801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529228"/>
              </p:ext>
            </p:extLst>
          </p:nvPr>
        </p:nvGraphicFramePr>
        <p:xfrm>
          <a:off x="8260080" y="3653202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5" imgW="914597" imgH="806406" progId="Excel.SheetMacroEnabled.12">
                  <p:embed/>
                </p:oleObj>
              </mc:Choice>
              <mc:Fallback>
                <p:oleObj name="Macro-Enabled Worksheet" showAsIcon="1" r:id="rId5" imgW="914597" imgH="806406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60080" y="3653202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693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79285-0300-E5BF-244E-D8000B62E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7685763-B0BB-23E6-EF72-0169235A984E}"/>
              </a:ext>
            </a:extLst>
          </p:cNvPr>
          <p:cNvCxnSpPr/>
          <p:nvPr/>
        </p:nvCxnSpPr>
        <p:spPr>
          <a:xfrm>
            <a:off x="284480" y="538480"/>
            <a:ext cx="11623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DC2178F-F083-375D-F396-D8932EEA57C3}"/>
              </a:ext>
            </a:extLst>
          </p:cNvPr>
          <p:cNvSpPr txBox="1"/>
          <p:nvPr/>
        </p:nvSpPr>
        <p:spPr>
          <a:xfrm>
            <a:off x="199199" y="38632"/>
            <a:ext cx="1345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SQL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A96E45-95AF-0F48-7FBA-DC72CDF96C4D}"/>
              </a:ext>
            </a:extLst>
          </p:cNvPr>
          <p:cNvSpPr txBox="1"/>
          <p:nvPr/>
        </p:nvSpPr>
        <p:spPr>
          <a:xfrm>
            <a:off x="284480" y="494119"/>
            <a:ext cx="372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3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IN" dirty="0"/>
              <a:t>Power BI Data Preparation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A1487-5EC8-5DFE-AC2E-ECE103A50EEC}"/>
              </a:ext>
            </a:extLst>
          </p:cNvPr>
          <p:cNvSpPr txBox="1"/>
          <p:nvPr/>
        </p:nvSpPr>
        <p:spPr>
          <a:xfrm>
            <a:off x="284480" y="955784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 Imported Excel file into Power BI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 Performed data cleaning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Query Editor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3: Set correct data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4:Removed unnecessary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5:Data Modeling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C75626-CEFC-0A25-42E7-83F84BF6B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55" y="2489531"/>
            <a:ext cx="6962219" cy="38299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2BC73B-B73A-C197-0272-AFABE2E308C7}"/>
              </a:ext>
            </a:extLst>
          </p:cNvPr>
          <p:cNvSpPr txBox="1"/>
          <p:nvPr/>
        </p:nvSpPr>
        <p:spPr>
          <a:xfrm>
            <a:off x="7051040" y="2489531"/>
            <a:ext cx="485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rtl="0" fontAlgn="base"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elationship between </a:t>
            </a:r>
            <a:r>
              <a:rPr lang="en-US" sz="1800" b="0" i="0" u="none" strike="noStrike" dirty="0" err="1">
                <a:solidFill>
                  <a:srgbClr val="18803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Restaurant_ID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both datasets.</a:t>
            </a:r>
          </a:p>
        </p:txBody>
      </p:sp>
    </p:spTree>
    <p:extLst>
      <p:ext uri="{BB962C8B-B14F-4D97-AF65-F5344CB8AC3E}">
        <p14:creationId xmlns:p14="http://schemas.microsoft.com/office/powerpoint/2010/main" val="265651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C15DF-A909-49EA-B833-236C8B14A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62A121E-DB69-280B-35B2-A2E869D90F75}"/>
              </a:ext>
            </a:extLst>
          </p:cNvPr>
          <p:cNvCxnSpPr/>
          <p:nvPr/>
        </p:nvCxnSpPr>
        <p:spPr>
          <a:xfrm>
            <a:off x="284480" y="538480"/>
            <a:ext cx="11623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E860111-BC9B-F78E-A38B-90D3152CD3C0}"/>
              </a:ext>
            </a:extLst>
          </p:cNvPr>
          <p:cNvSpPr txBox="1"/>
          <p:nvPr/>
        </p:nvSpPr>
        <p:spPr>
          <a:xfrm>
            <a:off x="284480" y="494119"/>
            <a:ext cx="503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Restaurants per City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642A99-CD41-2FF2-2352-20AC9EA80966}"/>
              </a:ext>
            </a:extLst>
          </p:cNvPr>
          <p:cNvSpPr txBox="1"/>
          <p:nvPr/>
        </p:nvSpPr>
        <p:spPr>
          <a:xfrm>
            <a:off x="178879" y="6164"/>
            <a:ext cx="33263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tasks 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C68861-A6EA-BEAA-1B5A-386EC6D5A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" y="1728539"/>
            <a:ext cx="4612640" cy="30161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D5142E-4CE9-A871-4DE0-CA98C401EB7E}"/>
              </a:ext>
            </a:extLst>
          </p:cNvPr>
          <p:cNvSpPr txBox="1"/>
          <p:nvPr/>
        </p:nvSpPr>
        <p:spPr>
          <a:xfrm>
            <a:off x="284480" y="1197518"/>
            <a:ext cx="461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0CA60F-853C-C5C7-BA83-0EE46EE873E9}"/>
              </a:ext>
            </a:extLst>
          </p:cNvPr>
          <p:cNvSpPr txBox="1"/>
          <p:nvPr/>
        </p:nvSpPr>
        <p:spPr>
          <a:xfrm>
            <a:off x="178879" y="4870187"/>
            <a:ext cx="47182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cities with high and low restaurant density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correlation with demand and population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46DF6-E610-411C-7DB2-BC76BB8F9F0F}"/>
              </a:ext>
            </a:extLst>
          </p:cNvPr>
          <p:cNvSpPr txBox="1"/>
          <p:nvPr/>
        </p:nvSpPr>
        <p:spPr>
          <a:xfrm>
            <a:off x="5425440" y="1688810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Chennai has the highest number of restaurants (31), indicating strong food demand,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Kolkata has the lowest (23), suggesting potential market expansion opportunities.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174B08-9F4C-5FE6-87FE-CE6297A96A18}"/>
              </a:ext>
            </a:extLst>
          </p:cNvPr>
          <p:cNvSpPr txBox="1"/>
          <p:nvPr/>
        </p:nvSpPr>
        <p:spPr>
          <a:xfrm>
            <a:off x="5425440" y="415994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promotional campaigns in low-density cities like Kolkata to attract new restaurant partners.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E2D2EC-43BF-A93C-BF7C-AC9213F3E65E}"/>
              </a:ext>
            </a:extLst>
          </p:cNvPr>
          <p:cNvSpPr txBox="1"/>
          <p:nvPr/>
        </p:nvSpPr>
        <p:spPr>
          <a:xfrm>
            <a:off x="5740400" y="290683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high-demand cities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new restaurant onboarding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 entry and expansion decisions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861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83445-F213-0C4D-05D9-81D8B9A9E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DDEE08-EC83-EA9C-1C0C-7D233AAFFD73}"/>
              </a:ext>
            </a:extLst>
          </p:cNvPr>
          <p:cNvCxnSpPr/>
          <p:nvPr/>
        </p:nvCxnSpPr>
        <p:spPr>
          <a:xfrm>
            <a:off x="284480" y="538480"/>
            <a:ext cx="11623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DE6481F-4851-7327-AE2B-A888C75AE76A}"/>
              </a:ext>
            </a:extLst>
          </p:cNvPr>
          <p:cNvSpPr txBox="1"/>
          <p:nvPr/>
        </p:nvSpPr>
        <p:spPr>
          <a:xfrm>
            <a:off x="284480" y="494119"/>
            <a:ext cx="503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2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Restaurants per City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5A6462-5D5C-B2A2-1482-E4D34E7730DD}"/>
              </a:ext>
            </a:extLst>
          </p:cNvPr>
          <p:cNvSpPr txBox="1"/>
          <p:nvPr/>
        </p:nvSpPr>
        <p:spPr>
          <a:xfrm>
            <a:off x="178879" y="6164"/>
            <a:ext cx="33263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tasks 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7FB1B2-D53D-974B-FAB0-A8A29C606116}"/>
              </a:ext>
            </a:extLst>
          </p:cNvPr>
          <p:cNvSpPr txBox="1"/>
          <p:nvPr/>
        </p:nvSpPr>
        <p:spPr>
          <a:xfrm>
            <a:off x="284480" y="1197518"/>
            <a:ext cx="461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 chart showing % of Number of Restaurants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281212-2268-4448-4103-FCB964CD75A2}"/>
              </a:ext>
            </a:extLst>
          </p:cNvPr>
          <p:cNvSpPr txBox="1"/>
          <p:nvPr/>
        </p:nvSpPr>
        <p:spPr>
          <a:xfrm>
            <a:off x="178879" y="493392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cities dominating order volume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Compared restaurant density vs demand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6EB7B3-4F33-62B8-628F-815E5FB9857F}"/>
              </a:ext>
            </a:extLst>
          </p:cNvPr>
          <p:cNvSpPr txBox="1"/>
          <p:nvPr/>
        </p:nvSpPr>
        <p:spPr>
          <a:xfrm>
            <a:off x="5323840" y="16316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Chennai has the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restaurant presence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market penetration and demand.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Kolkata has the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 number of restaurants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suggesting potential opportunities for expansion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859E0-A203-A9A6-DD97-332288088D7F}"/>
              </a:ext>
            </a:extLst>
          </p:cNvPr>
          <p:cNvSpPr txBox="1"/>
          <p:nvPr/>
        </p:nvSpPr>
        <p:spPr>
          <a:xfrm>
            <a:off x="5598160" y="27491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restaurant concentration in Chennai and Mumbai reflects strong demand, while Kolkata presents expansion opportunities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819ED-C290-A85F-048A-DC6A1CEE523E}"/>
              </a:ext>
            </a:extLst>
          </p:cNvPr>
          <p:cNvSpPr txBox="1"/>
          <p:nvPr/>
        </p:nvSpPr>
        <p:spPr>
          <a:xfrm>
            <a:off x="5323840" y="400410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onboarding new restaurants in Kolkata and strengthen competitive positioning in high-density cities.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E14B9C-53AB-7CE2-242D-B9E935CAE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79" y="1858326"/>
            <a:ext cx="5032717" cy="299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541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A1D3-74EC-D2F1-119F-1EAF542B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02D0B3-08D6-D22F-C158-68FF27A844B4}"/>
              </a:ext>
            </a:extLst>
          </p:cNvPr>
          <p:cNvCxnSpPr/>
          <p:nvPr/>
        </p:nvCxnSpPr>
        <p:spPr>
          <a:xfrm>
            <a:off x="284480" y="538480"/>
            <a:ext cx="11623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9BDEB6A-1BF9-2663-5F70-CEBF7DF4EE63}"/>
              </a:ext>
            </a:extLst>
          </p:cNvPr>
          <p:cNvSpPr txBox="1"/>
          <p:nvPr/>
        </p:nvSpPr>
        <p:spPr>
          <a:xfrm>
            <a:off x="284480" y="494119"/>
            <a:ext cx="503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3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Order Trends Over Time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7BBC36-816E-5FE2-3195-6F9C38115F42}"/>
              </a:ext>
            </a:extLst>
          </p:cNvPr>
          <p:cNvSpPr txBox="1"/>
          <p:nvPr/>
        </p:nvSpPr>
        <p:spPr>
          <a:xfrm>
            <a:off x="178879" y="6164"/>
            <a:ext cx="33263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tasks 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AFEBDF-8DF8-B971-C202-B1BF6213668B}"/>
              </a:ext>
            </a:extLst>
          </p:cNvPr>
          <p:cNvSpPr txBox="1"/>
          <p:nvPr/>
        </p:nvSpPr>
        <p:spPr>
          <a:xfrm>
            <a:off x="284480" y="1197518"/>
            <a:ext cx="461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 chart (Date vs Total Sales)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B9714B-93C7-6462-B96C-CDA21E9CB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40" y="1788161"/>
            <a:ext cx="5433476" cy="30800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B9B4A1-5197-1C5C-F308-8C0728C7369D}"/>
              </a:ext>
            </a:extLst>
          </p:cNvPr>
          <p:cNvSpPr txBox="1"/>
          <p:nvPr/>
        </p:nvSpPr>
        <p:spPr>
          <a:xfrm>
            <a:off x="5689600" y="194538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volume shows high day-to-day variability with noticeable spikes during specific periods, indicating peak demand days and possible promotional or seasonal effects.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B2D24A-6ECB-DBB4-0CD1-B56E98A972C3}"/>
              </a:ext>
            </a:extLst>
          </p:cNvPr>
          <p:cNvSpPr txBox="1"/>
          <p:nvPr/>
        </p:nvSpPr>
        <p:spPr>
          <a:xfrm>
            <a:off x="178879" y="491790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sales observed during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October and mid-November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order volumes during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off-peak weekdays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8A3023-DCC9-DF7D-4012-B0A27DF53B2E}"/>
              </a:ext>
            </a:extLst>
          </p:cNvPr>
          <p:cNvSpPr txBox="1"/>
          <p:nvPr/>
        </p:nvSpPr>
        <p:spPr>
          <a:xfrm>
            <a:off x="6031039" y="2872193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demand forecasting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staffing and delivery partner planning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optimize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 and restaurant readiness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2AA300-53CE-EFCB-8CE6-B9CDFAF4F310}"/>
              </a:ext>
            </a:extLst>
          </p:cNvPr>
          <p:cNvSpPr txBox="1"/>
          <p:nvPr/>
        </p:nvSpPr>
        <p:spPr>
          <a:xfrm>
            <a:off x="5709920" y="403725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delivery workforce and run targeted promotions during identified peak periods to maximize order fulfillment and revenue.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38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C3FA1-5EA1-C6BE-52EC-1ABE030F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7CEA48-2114-86CD-BF1A-51D7C47A54B1}"/>
              </a:ext>
            </a:extLst>
          </p:cNvPr>
          <p:cNvCxnSpPr/>
          <p:nvPr/>
        </p:nvCxnSpPr>
        <p:spPr>
          <a:xfrm>
            <a:off x="284480" y="538480"/>
            <a:ext cx="11623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92CBC47-ABCD-98EA-F6C8-E9F799B377B3}"/>
              </a:ext>
            </a:extLst>
          </p:cNvPr>
          <p:cNvSpPr txBox="1"/>
          <p:nvPr/>
        </p:nvSpPr>
        <p:spPr>
          <a:xfrm>
            <a:off x="284480" y="494119"/>
            <a:ext cx="503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4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Rating Correlation Analysis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99897B-35D8-8F52-FFE0-A37A1E089091}"/>
              </a:ext>
            </a:extLst>
          </p:cNvPr>
          <p:cNvSpPr txBox="1"/>
          <p:nvPr/>
        </p:nvSpPr>
        <p:spPr>
          <a:xfrm>
            <a:off x="178879" y="6164"/>
            <a:ext cx="33263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tasks 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3717A8-F86C-C0F4-C337-963A0BA6D738}"/>
              </a:ext>
            </a:extLst>
          </p:cNvPr>
          <p:cNvSpPr txBox="1"/>
          <p:nvPr/>
        </p:nvSpPr>
        <p:spPr>
          <a:xfrm>
            <a:off x="284480" y="974240"/>
            <a:ext cx="461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Scatter plots / correlation visuals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D7A738-044A-F7A6-BF9B-B98C7266D54F}"/>
              </a:ext>
            </a:extLst>
          </p:cNvPr>
          <p:cNvSpPr txBox="1"/>
          <p:nvPr/>
        </p:nvSpPr>
        <p:spPr>
          <a:xfrm>
            <a:off x="9290205" y="1323865"/>
            <a:ext cx="190146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Factors Analyzed: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ratings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count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D64F46-A2A3-FFD0-4A3A-018259FF4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79" y="1350472"/>
            <a:ext cx="3895276" cy="27634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C2D533-ACF3-C888-EF04-7696695FF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894" y="1392242"/>
            <a:ext cx="4628572" cy="26799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7143A1-2D15-0959-C22F-6209D398CE2A}"/>
              </a:ext>
            </a:extLst>
          </p:cNvPr>
          <p:cNvSpPr txBox="1"/>
          <p:nvPr/>
        </p:nvSpPr>
        <p:spPr>
          <a:xfrm>
            <a:off x="178878" y="4630221"/>
            <a:ext cx="82437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Medium-priced restaurants have the highest average ratings, indicating a strong balance between affordability and customer satisfaction.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AA1CA2-1A00-8264-04D3-263790B3659C}"/>
              </a:ext>
            </a:extLst>
          </p:cNvPr>
          <p:cNvSpPr txBox="1"/>
          <p:nvPr/>
        </p:nvSpPr>
        <p:spPr>
          <a:xfrm>
            <a:off x="429799" y="5234431"/>
            <a:ext cx="89346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tend to rate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mid-range restaurants more favorably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High-priced restaurants receive slightly lower average ratings, possibly due to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expectations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Low-priced restaurants show good engagement but moderate ratings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C6BFCD-5179-329C-859B-7C865B461A8B}"/>
              </a:ext>
            </a:extLst>
          </p:cNvPr>
          <p:cNvSpPr txBox="1"/>
          <p:nvPr/>
        </p:nvSpPr>
        <p:spPr>
          <a:xfrm>
            <a:off x="4367894" y="411049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Shorter delivery times and higher service quality improve ratings</a:t>
            </a:r>
          </a:p>
        </p:txBody>
      </p:sp>
    </p:spTree>
    <p:extLst>
      <p:ext uri="{BB962C8B-B14F-4D97-AF65-F5344CB8AC3E}">
        <p14:creationId xmlns:p14="http://schemas.microsoft.com/office/powerpoint/2010/main" val="3915187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A36A3-83FD-82C5-6268-222B8E4C0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DD3572D-0141-671D-88B2-A10462465EB8}"/>
              </a:ext>
            </a:extLst>
          </p:cNvPr>
          <p:cNvCxnSpPr/>
          <p:nvPr/>
        </p:nvCxnSpPr>
        <p:spPr>
          <a:xfrm>
            <a:off x="284480" y="538480"/>
            <a:ext cx="11623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010739B-65F2-1677-0320-52218503C944}"/>
              </a:ext>
            </a:extLst>
          </p:cNvPr>
          <p:cNvSpPr txBox="1"/>
          <p:nvPr/>
        </p:nvSpPr>
        <p:spPr>
          <a:xfrm>
            <a:off x="284480" y="494119"/>
            <a:ext cx="503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5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Restaurants by Sales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5D95F0-163A-5B8A-CA61-9466F37C8421}"/>
              </a:ext>
            </a:extLst>
          </p:cNvPr>
          <p:cNvSpPr txBox="1"/>
          <p:nvPr/>
        </p:nvSpPr>
        <p:spPr>
          <a:xfrm>
            <a:off x="178879" y="6164"/>
            <a:ext cx="33263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tasks 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EB234B-1708-5952-7766-C3D2A4966991}"/>
              </a:ext>
            </a:extLst>
          </p:cNvPr>
          <p:cNvSpPr txBox="1"/>
          <p:nvPr/>
        </p:nvSpPr>
        <p:spPr>
          <a:xfrm>
            <a:off x="284480" y="1197518"/>
            <a:ext cx="461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Stacked Column Chart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45B9C0-8524-D7C1-57BB-1B214935C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666240"/>
            <a:ext cx="6569903" cy="37380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BE4204-7846-FED0-451D-D87A6170202F}"/>
              </a:ext>
            </a:extLst>
          </p:cNvPr>
          <p:cNvSpPr txBox="1"/>
          <p:nvPr/>
        </p:nvSpPr>
        <p:spPr>
          <a:xfrm>
            <a:off x="284480" y="5660482"/>
            <a:ext cx="4866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restaurants outperform due to higher order volume and pricing 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CFFE5B-1731-C21E-332F-16522384AC8A}"/>
              </a:ext>
            </a:extLst>
          </p:cNvPr>
          <p:cNvSpPr txBox="1"/>
          <p:nvPr/>
        </p:nvSpPr>
        <p:spPr>
          <a:xfrm>
            <a:off x="6774950" y="1796126"/>
            <a:ext cx="502081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Restaurant_335 in Delhi generates the highest total sales, indicating strong customer demand and operational efficiency compared to other top restaurants.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E6F0C3-6C28-9A2E-AC5C-D4C9F1DD2A34}"/>
              </a:ext>
            </a:extLst>
          </p:cNvPr>
          <p:cNvSpPr txBox="1"/>
          <p:nvPr/>
        </p:nvSpPr>
        <p:spPr>
          <a:xfrm>
            <a:off x="7069590" y="3119765"/>
            <a:ext cx="532561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best-performing restaurant partners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partnership expansion and incentives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best-practice replication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cities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1D2DAC-E6EB-3DB0-7FAD-B4B6082853FE}"/>
              </a:ext>
            </a:extLst>
          </p:cNvPr>
          <p:cNvSpPr txBox="1"/>
          <p:nvPr/>
        </p:nvSpPr>
        <p:spPr>
          <a:xfrm>
            <a:off x="6774950" y="4482399"/>
            <a:ext cx="52120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operational strategies of top-performing restaurants and replicate them across lower-performing outlets to boost overall sales.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875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9287A-D30E-EFC5-088F-6F31DC65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0DA6B4-ABB6-0F6F-744C-987DCC500236}"/>
              </a:ext>
            </a:extLst>
          </p:cNvPr>
          <p:cNvCxnSpPr/>
          <p:nvPr/>
        </p:nvCxnSpPr>
        <p:spPr>
          <a:xfrm>
            <a:off x="284480" y="538480"/>
            <a:ext cx="11623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E00B092-EDBA-9344-A378-F3C64FFCD12D}"/>
              </a:ext>
            </a:extLst>
          </p:cNvPr>
          <p:cNvSpPr txBox="1"/>
          <p:nvPr/>
        </p:nvSpPr>
        <p:spPr>
          <a:xfrm>
            <a:off x="284480" y="494119"/>
            <a:ext cx="503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6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Revenue by Area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D7E045-F750-F0B2-9FAB-8A65C2607513}"/>
              </a:ext>
            </a:extLst>
          </p:cNvPr>
          <p:cNvSpPr txBox="1"/>
          <p:nvPr/>
        </p:nvSpPr>
        <p:spPr>
          <a:xfrm>
            <a:off x="178879" y="6164"/>
            <a:ext cx="33263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tasks 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6F5DE2-9A95-C169-E885-D2BB061A2E05}"/>
              </a:ext>
            </a:extLst>
          </p:cNvPr>
          <p:cNvSpPr txBox="1"/>
          <p:nvPr/>
        </p:nvSpPr>
        <p:spPr>
          <a:xfrm>
            <a:off x="284480" y="1197518"/>
            <a:ext cx="4612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 Map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D7A19A-BB72-20BE-C37B-11628B7D5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" y="1505294"/>
            <a:ext cx="6390639" cy="36305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68D27D-1885-8287-498E-A3DE73286215}"/>
              </a:ext>
            </a:extLst>
          </p:cNvPr>
          <p:cNvSpPr txBox="1"/>
          <p:nvPr/>
        </p:nvSpPr>
        <p:spPr>
          <a:xfrm>
            <a:off x="81280" y="516212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high-performing and low-performing areas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driven by order volume and order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FEBE4-97F6-FF82-36AF-1F7A1AB0EADB}"/>
              </a:ext>
            </a:extLst>
          </p:cNvPr>
          <p:cNvSpPr txBox="1"/>
          <p:nvPr/>
        </p:nvSpPr>
        <p:spPr>
          <a:xfrm>
            <a:off x="6471919" y="1382184"/>
            <a:ext cx="54356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 and Area D generate the highest total revenue, while Area E shows a strong balance of high average order value and item volume.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566F77-96A3-F03D-7526-4DE3B87E5BF8}"/>
              </a:ext>
            </a:extLst>
          </p:cNvPr>
          <p:cNvSpPr txBox="1"/>
          <p:nvPr/>
        </p:nvSpPr>
        <p:spPr>
          <a:xfrm>
            <a:off x="6720839" y="2518275"/>
            <a:ext cx="49377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high-value delivery zones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area-specific pricing and promotion strategies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Assists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capacity and logistics planning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F8B8DD-C07D-0965-28E9-418D674A2936}"/>
              </a:ext>
            </a:extLst>
          </p:cNvPr>
          <p:cNvSpPr txBox="1"/>
          <p:nvPr/>
        </p:nvSpPr>
        <p:spPr>
          <a:xfrm>
            <a:off x="6471919" y="3998488"/>
            <a:ext cx="56388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premium restaurant partnerships and faster delivery options in high-AOV areas like Area E, while boosting promotional offers in lower-revenue areas to drive order volume.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895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8B02E-DCBF-08C1-7EA6-66B6236E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953500-3BD6-BA16-5DDC-F7DF652CC08B}"/>
              </a:ext>
            </a:extLst>
          </p:cNvPr>
          <p:cNvCxnSpPr/>
          <p:nvPr/>
        </p:nvCxnSpPr>
        <p:spPr>
          <a:xfrm>
            <a:off x="284480" y="538480"/>
            <a:ext cx="11623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FD17C35-E87A-B08D-D0B0-B8A554754546}"/>
              </a:ext>
            </a:extLst>
          </p:cNvPr>
          <p:cNvSpPr txBox="1"/>
          <p:nvPr/>
        </p:nvSpPr>
        <p:spPr>
          <a:xfrm>
            <a:off x="284480" y="494119"/>
            <a:ext cx="503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7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Order Density Heat Map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5D4259-62AE-0827-8A7E-29AA677B093F}"/>
              </a:ext>
            </a:extLst>
          </p:cNvPr>
          <p:cNvSpPr txBox="1"/>
          <p:nvPr/>
        </p:nvSpPr>
        <p:spPr>
          <a:xfrm>
            <a:off x="178879" y="6164"/>
            <a:ext cx="33263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tasks 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E48BAD-E510-96CA-092E-434064304584}"/>
              </a:ext>
            </a:extLst>
          </p:cNvPr>
          <p:cNvSpPr txBox="1"/>
          <p:nvPr/>
        </p:nvSpPr>
        <p:spPr>
          <a:xfrm>
            <a:off x="284480" y="1197518"/>
            <a:ext cx="4612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Heat map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05A263-35F1-1E52-A943-B89D68218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41" y="1707908"/>
            <a:ext cx="4621157" cy="34421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606AF4-90F8-E69A-3A8C-10FDD6C8DFB0}"/>
              </a:ext>
            </a:extLst>
          </p:cNvPr>
          <p:cNvSpPr txBox="1"/>
          <p:nvPr/>
        </p:nvSpPr>
        <p:spPr>
          <a:xfrm>
            <a:off x="363541" y="5291149"/>
            <a:ext cx="45335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🟢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demand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(Above average)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🟡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Medium demand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(Near average)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🔴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demand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(Below average)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05C05-D4BB-182A-AF16-C9D9909A78B5}"/>
              </a:ext>
            </a:extLst>
          </p:cNvPr>
          <p:cNvSpPr txBox="1"/>
          <p:nvPr/>
        </p:nvSpPr>
        <p:spPr>
          <a:xfrm>
            <a:off x="5577840" y="1707908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Delhi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the highest item demand, while Kolkata shows comparatively lower order volume, indicating uneven demand distribution across cities.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FB6F9F-34AC-414B-D998-DE1659BC72AF}"/>
              </a:ext>
            </a:extLst>
          </p:cNvPr>
          <p:cNvSpPr txBox="1"/>
          <p:nvPr/>
        </p:nvSpPr>
        <p:spPr>
          <a:xfrm>
            <a:off x="5902960" y="2706669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plan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 and restaurant capacity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city-level demand forecasting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targeted city-wise promotions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912242-4633-40C1-22DF-EC741D6EED9B}"/>
              </a:ext>
            </a:extLst>
          </p:cNvPr>
          <p:cNvSpPr txBox="1"/>
          <p:nvPr/>
        </p:nvSpPr>
        <p:spPr>
          <a:xfrm>
            <a:off x="5577840" y="395165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delivery partner availability and stock readiness in high-demand cities like Delhi, while running promotional campaigns in lower-demand cities such as Kolkata.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589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9416-41EE-B30F-6EEA-A54DBDDF5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D8D9FE-2BE8-E288-61E8-864DEB984495}"/>
              </a:ext>
            </a:extLst>
          </p:cNvPr>
          <p:cNvCxnSpPr/>
          <p:nvPr/>
        </p:nvCxnSpPr>
        <p:spPr>
          <a:xfrm>
            <a:off x="284480" y="538480"/>
            <a:ext cx="11623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46F304D-216D-ACB9-C7CA-24AFDD1678BB}"/>
              </a:ext>
            </a:extLst>
          </p:cNvPr>
          <p:cNvSpPr txBox="1"/>
          <p:nvPr/>
        </p:nvSpPr>
        <p:spPr>
          <a:xfrm>
            <a:off x="284480" y="494119"/>
            <a:ext cx="503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8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KPI Cards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15CC5B-F025-0FD6-05DC-F781181BB5F2}"/>
              </a:ext>
            </a:extLst>
          </p:cNvPr>
          <p:cNvSpPr txBox="1"/>
          <p:nvPr/>
        </p:nvSpPr>
        <p:spPr>
          <a:xfrm>
            <a:off x="178879" y="6164"/>
            <a:ext cx="33263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tasks 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F2FA1D-A501-2092-15D5-CDEB7298A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" y="1172550"/>
            <a:ext cx="10840963" cy="1686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9BEAAA-2CC8-9079-94F2-F954B0356F7E}"/>
              </a:ext>
            </a:extLst>
          </p:cNvPr>
          <p:cNvSpPr txBox="1"/>
          <p:nvPr/>
        </p:nvSpPr>
        <p:spPr>
          <a:xfrm>
            <a:off x="284480" y="303111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Sum of completed order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 (AOV):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Revenue ÷ Total Orders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Count of completed orders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F8C41B-4C5A-3DDF-7BC6-74564324C9BC}"/>
              </a:ext>
            </a:extLst>
          </p:cNvPr>
          <p:cNvSpPr txBox="1"/>
          <p:nvPr/>
        </p:nvSpPr>
        <p:spPr>
          <a:xfrm>
            <a:off x="284480" y="5172036"/>
            <a:ext cx="10281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Strong revenue performance is driven by healthy order volume and stable average order value.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F1824E-D18E-3B7E-32C8-24E8F6AC8CA6}"/>
              </a:ext>
            </a:extLst>
          </p:cNvPr>
          <p:cNvSpPr txBox="1"/>
          <p:nvPr/>
        </p:nvSpPr>
        <p:spPr>
          <a:xfrm>
            <a:off x="284480" y="419122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Revenue: ₹1.25M →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Achieved 104%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AOV Target: ₹1,000 →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Above Target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95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1A253-28AA-2BC0-1142-7FF30A165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FBF096-6999-98CD-E1D6-9555465543B7}"/>
              </a:ext>
            </a:extLst>
          </p:cNvPr>
          <p:cNvCxnSpPr/>
          <p:nvPr/>
        </p:nvCxnSpPr>
        <p:spPr>
          <a:xfrm>
            <a:off x="284480" y="538480"/>
            <a:ext cx="11623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EB736FC-84B1-63CF-220F-8FD82B9FB8A3}"/>
              </a:ext>
            </a:extLst>
          </p:cNvPr>
          <p:cNvSpPr txBox="1"/>
          <p:nvPr/>
        </p:nvSpPr>
        <p:spPr>
          <a:xfrm>
            <a:off x="284480" y="494119"/>
            <a:ext cx="503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9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Restaurant-Wise Sales Table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E2C0CA-3B76-5A4E-A0B1-316F34E0D963}"/>
              </a:ext>
            </a:extLst>
          </p:cNvPr>
          <p:cNvSpPr txBox="1"/>
          <p:nvPr/>
        </p:nvSpPr>
        <p:spPr>
          <a:xfrm>
            <a:off x="178879" y="6164"/>
            <a:ext cx="33263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tasks 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A4FA9D-0397-BF3D-0365-5A01E09944B9}"/>
              </a:ext>
            </a:extLst>
          </p:cNvPr>
          <p:cNvSpPr txBox="1"/>
          <p:nvPr/>
        </p:nvSpPr>
        <p:spPr>
          <a:xfrm>
            <a:off x="128545" y="5095071"/>
            <a:ext cx="3728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Metrics: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534E57-1CD2-7639-E0EC-7A8512649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79" y="958590"/>
            <a:ext cx="7230850" cy="4136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95C386-60C1-6E19-F487-ACE000BB6E2B}"/>
              </a:ext>
            </a:extLst>
          </p:cNvPr>
          <p:cNvSpPr txBox="1"/>
          <p:nvPr/>
        </p:nvSpPr>
        <p:spPr>
          <a:xfrm>
            <a:off x="7644321" y="3659872"/>
            <a:ext cx="4368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Restaurants with high average order value but low item count may benefit from bundling strategies. High-volume performers could be optimized for delivery efficiency or upselling.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4D5D20-A52D-C9CF-87B7-982F55CDFE6C}"/>
              </a:ext>
            </a:extLst>
          </p:cNvPr>
          <p:cNvSpPr txBox="1"/>
          <p:nvPr/>
        </p:nvSpPr>
        <p:spPr>
          <a:xfrm>
            <a:off x="7721600" y="1151798"/>
            <a:ext cx="40843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🥇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Restaurant_325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Restaurant_134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average order value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(₹1,031.27) despite low item 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📦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Restaurant_306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Restaurant_447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item volumes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(55 each), indicating strong throughput.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💰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Restaurant_329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Restaurant_84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total sales with premium order values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suggesting loyal or high-spending customers.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CC0A13-F438-5DD4-BFCF-2C6E30A09E83}"/>
              </a:ext>
            </a:extLst>
          </p:cNvPr>
          <p:cNvSpPr txBox="1"/>
          <p:nvPr/>
        </p:nvSpPr>
        <p:spPr>
          <a:xfrm>
            <a:off x="3794304" y="5159432"/>
            <a:ext cx="35310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 formatting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 by city, area, and price range</a:t>
            </a:r>
          </a:p>
        </p:txBody>
      </p:sp>
    </p:spTree>
    <p:extLst>
      <p:ext uri="{BB962C8B-B14F-4D97-AF65-F5344CB8AC3E}">
        <p14:creationId xmlns:p14="http://schemas.microsoft.com/office/powerpoint/2010/main" val="4281765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82B9C-E789-2F18-57CE-0239557AB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841686-34F0-9B07-A903-5788E7AEE116}"/>
              </a:ext>
            </a:extLst>
          </p:cNvPr>
          <p:cNvCxnSpPr/>
          <p:nvPr/>
        </p:nvCxnSpPr>
        <p:spPr>
          <a:xfrm>
            <a:off x="284480" y="538480"/>
            <a:ext cx="11623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57D5DEB-B83B-2F76-5800-540D25AFEB6B}"/>
              </a:ext>
            </a:extLst>
          </p:cNvPr>
          <p:cNvSpPr txBox="1"/>
          <p:nvPr/>
        </p:nvSpPr>
        <p:spPr>
          <a:xfrm>
            <a:off x="284480" y="494119"/>
            <a:ext cx="503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10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Final Dashboard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C35FE8-7DBD-A7A6-AFFC-41673D7BE028}"/>
              </a:ext>
            </a:extLst>
          </p:cNvPr>
          <p:cNvSpPr txBox="1"/>
          <p:nvPr/>
        </p:nvSpPr>
        <p:spPr>
          <a:xfrm>
            <a:off x="178879" y="6164"/>
            <a:ext cx="33263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tasks 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8DDA2-30D7-AC24-7A14-D6990024417A}"/>
              </a:ext>
            </a:extLst>
          </p:cNvPr>
          <p:cNvSpPr txBox="1"/>
          <p:nvPr/>
        </p:nvSpPr>
        <p:spPr>
          <a:xfrm>
            <a:off x="284480" y="517205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visuals integrated into a single interactive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 &amp; slicers for city, area, restaurant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layout for effective storytelling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DE7A6A-71D4-2F8C-89A2-056243D40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" y="903326"/>
            <a:ext cx="7426960" cy="4203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12FF88-39DC-6B17-87C6-D029574D6277}"/>
              </a:ext>
            </a:extLst>
          </p:cNvPr>
          <p:cNvSpPr txBox="1"/>
          <p:nvPr/>
        </p:nvSpPr>
        <p:spPr>
          <a:xfrm>
            <a:off x="7711440" y="874126"/>
            <a:ext cx="43281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Chennai and Mumbai dominate in both restaurant presence and order volume.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Area_C’s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revenue leadership suggests a high-performing cluster worth deeper investment.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September’s sales spike may reflect seasonal trends or successful promotions, warranting replication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F3188-5165-32DA-EABD-C7DA068866E5}"/>
              </a:ext>
            </a:extLst>
          </p:cNvPr>
          <p:cNvSpPr txBox="1"/>
          <p:nvPr/>
        </p:nvSpPr>
        <p:spPr>
          <a:xfrm>
            <a:off x="7777480" y="2827716"/>
            <a:ext cx="41960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high-performing areas like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Area_C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more delivery partners.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Investigate September’s sales drivers for repeatable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 bundling strategies in low item-count, high AOV restaurants.</a:t>
            </a:r>
          </a:p>
        </p:txBody>
      </p:sp>
    </p:spTree>
    <p:extLst>
      <p:ext uri="{BB962C8B-B14F-4D97-AF65-F5344CB8AC3E}">
        <p14:creationId xmlns:p14="http://schemas.microsoft.com/office/powerpoint/2010/main" val="279530955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{27090D8A-84A2-4DFC-AC22-49FF24867DF1}tf56160789_win32</Template>
  <TotalTime>688</TotalTime>
  <Words>1147</Words>
  <Application>Microsoft Office PowerPoint</Application>
  <PresentationFormat>Widescreen</PresentationFormat>
  <Paragraphs>143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Bookman Old Style</vt:lpstr>
      <vt:lpstr>Calibri</vt:lpstr>
      <vt:lpstr>Franklin Gothic Book</vt:lpstr>
      <vt:lpstr>Wingdings</vt:lpstr>
      <vt:lpstr>Custom</vt:lpstr>
      <vt:lpstr>Macro-Enabled Worksheet</vt:lpstr>
      <vt:lpstr>Zomato Order &amp; Restaurant Analysis Using Power BI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Nishanth S L</dc:creator>
  <cp:lastModifiedBy>Nishanth S L</cp:lastModifiedBy>
  <cp:revision>55</cp:revision>
  <dcterms:created xsi:type="dcterms:W3CDTF">2025-12-31T09:14:03Z</dcterms:created>
  <dcterms:modified xsi:type="dcterms:W3CDTF">2026-01-07T05:14:23Z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